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64" r:id="rId4"/>
    <p:sldId id="265" r:id="rId5"/>
    <p:sldId id="258" r:id="rId6"/>
    <p:sldId id="267" r:id="rId7"/>
    <p:sldId id="268" r:id="rId8"/>
    <p:sldId id="269" r:id="rId9"/>
    <p:sldId id="270" r:id="rId10"/>
    <p:sldId id="271" r:id="rId11"/>
    <p:sldId id="262" r:id="rId12"/>
    <p:sldId id="263" r:id="rId13"/>
  </p:sldIdLst>
  <p:sldSz cx="18288000" cy="10287000"/>
  <p:notesSz cx="6858000" cy="9144000"/>
  <p:embeddedFontLst>
    <p:embeddedFont>
      <p:font typeface="Montserrat" panose="00000500000000000000" pitchFamily="2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9" roundtripDataSignature="AMtx7mhgg8nrVrQIHCebcnYX+6Ez5Wxm8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90C7109-C5AB-4898-B54B-1CCE95067129}">
  <a:tblStyle styleId="{B90C7109-C5AB-4898-B54B-1CCE9506712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2" d="100"/>
          <a:sy n="52" d="100"/>
        </p:scale>
        <p:origin x="850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EC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EC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EC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>
          <a:extLst>
            <a:ext uri="{FF2B5EF4-FFF2-40B4-BE49-F238E27FC236}">
              <a16:creationId xmlns:a16="http://schemas.microsoft.com/office/drawing/2014/main" id="{75E3D5E1-0E4F-E9A9-9E21-D368BBE94D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22089c74d98_0_6:notes">
            <a:extLst>
              <a:ext uri="{FF2B5EF4-FFF2-40B4-BE49-F238E27FC236}">
                <a16:creationId xmlns:a16="http://schemas.microsoft.com/office/drawing/2014/main" id="{8FEEB65D-1A79-36D1-DD5A-E82B49E86B2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g22089c74d98_0_6:notes">
            <a:extLst>
              <a:ext uri="{FF2B5EF4-FFF2-40B4-BE49-F238E27FC236}">
                <a16:creationId xmlns:a16="http://schemas.microsoft.com/office/drawing/2014/main" id="{D5B49CD4-D18F-81BF-54E8-A660BB8931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8456260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>
          <a:extLst>
            <a:ext uri="{FF2B5EF4-FFF2-40B4-BE49-F238E27FC236}">
              <a16:creationId xmlns:a16="http://schemas.microsoft.com/office/drawing/2014/main" id="{7EC2C663-4004-B3A5-F78D-16B0C99774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22089c74d98_0_6:notes">
            <a:extLst>
              <a:ext uri="{FF2B5EF4-FFF2-40B4-BE49-F238E27FC236}">
                <a16:creationId xmlns:a16="http://schemas.microsoft.com/office/drawing/2014/main" id="{BEB722A6-084C-119A-F6F8-B577B7D0E2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g22089c74d98_0_6:notes">
            <a:extLst>
              <a:ext uri="{FF2B5EF4-FFF2-40B4-BE49-F238E27FC236}">
                <a16:creationId xmlns:a16="http://schemas.microsoft.com/office/drawing/2014/main" id="{E71E8EE9-D279-3938-64CE-A429BB3298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5857067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EC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>
          <a:extLst>
            <a:ext uri="{FF2B5EF4-FFF2-40B4-BE49-F238E27FC236}">
              <a16:creationId xmlns:a16="http://schemas.microsoft.com/office/drawing/2014/main" id="{F0E42FDF-A758-7C60-6F3C-35EB009CD4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>
            <a:extLst>
              <a:ext uri="{FF2B5EF4-FFF2-40B4-BE49-F238E27FC236}">
                <a16:creationId xmlns:a16="http://schemas.microsoft.com/office/drawing/2014/main" id="{ECA5E306-F051-947E-7FA0-DD1EF1409BF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3:notes">
            <a:extLst>
              <a:ext uri="{FF2B5EF4-FFF2-40B4-BE49-F238E27FC236}">
                <a16:creationId xmlns:a16="http://schemas.microsoft.com/office/drawing/2014/main" id="{C451FECD-5340-08FB-7D07-A6260D0F8DB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0574870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>
          <a:extLst>
            <a:ext uri="{FF2B5EF4-FFF2-40B4-BE49-F238E27FC236}">
              <a16:creationId xmlns:a16="http://schemas.microsoft.com/office/drawing/2014/main" id="{22F449B7-E888-2641-08A5-4B1BA4CDAA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22089c74d98_0_6:notes">
            <a:extLst>
              <a:ext uri="{FF2B5EF4-FFF2-40B4-BE49-F238E27FC236}">
                <a16:creationId xmlns:a16="http://schemas.microsoft.com/office/drawing/2014/main" id="{A00E62B9-32BF-7DA1-3E28-BC8013937E8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g22089c74d98_0_6:notes">
            <a:extLst>
              <a:ext uri="{FF2B5EF4-FFF2-40B4-BE49-F238E27FC236}">
                <a16:creationId xmlns:a16="http://schemas.microsoft.com/office/drawing/2014/main" id="{80877041-A8D4-89A2-1020-EA27AC7BD7C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3036630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>
          <a:extLst>
            <a:ext uri="{FF2B5EF4-FFF2-40B4-BE49-F238E27FC236}">
              <a16:creationId xmlns:a16="http://schemas.microsoft.com/office/drawing/2014/main" id="{C5C43082-2B52-B01F-F6B6-E0F2A909E4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22089c74d98_0_6:notes">
            <a:extLst>
              <a:ext uri="{FF2B5EF4-FFF2-40B4-BE49-F238E27FC236}">
                <a16:creationId xmlns:a16="http://schemas.microsoft.com/office/drawing/2014/main" id="{1B52DF31-F890-C09A-39C2-293089AFFBC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g22089c74d98_0_6:notes">
            <a:extLst>
              <a:ext uri="{FF2B5EF4-FFF2-40B4-BE49-F238E27FC236}">
                <a16:creationId xmlns:a16="http://schemas.microsoft.com/office/drawing/2014/main" id="{BBE03859-6315-E7E5-DCDC-101D5F0D14E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5886963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>
          <a:extLst>
            <a:ext uri="{FF2B5EF4-FFF2-40B4-BE49-F238E27FC236}">
              <a16:creationId xmlns:a16="http://schemas.microsoft.com/office/drawing/2014/main" id="{B2020DB6-83D8-ED91-D267-F380E2CA00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>
            <a:extLst>
              <a:ext uri="{FF2B5EF4-FFF2-40B4-BE49-F238E27FC236}">
                <a16:creationId xmlns:a16="http://schemas.microsoft.com/office/drawing/2014/main" id="{1617A9E1-2FE9-6E14-FFFB-3F9D5596F0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3:notes">
            <a:extLst>
              <a:ext uri="{FF2B5EF4-FFF2-40B4-BE49-F238E27FC236}">
                <a16:creationId xmlns:a16="http://schemas.microsoft.com/office/drawing/2014/main" id="{7BE35033-B947-7A42-DCD8-9F5EEAEA2F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7846611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>
          <a:extLst>
            <a:ext uri="{FF2B5EF4-FFF2-40B4-BE49-F238E27FC236}">
              <a16:creationId xmlns:a16="http://schemas.microsoft.com/office/drawing/2014/main" id="{62669450-F6F5-DD5F-90B2-45B6800D9A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22089c74d98_0_6:notes">
            <a:extLst>
              <a:ext uri="{FF2B5EF4-FFF2-40B4-BE49-F238E27FC236}">
                <a16:creationId xmlns:a16="http://schemas.microsoft.com/office/drawing/2014/main" id="{A7E037F5-9E36-6D16-DAC6-5E4F94174E5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g22089c74d98_0_6:notes">
            <a:extLst>
              <a:ext uri="{FF2B5EF4-FFF2-40B4-BE49-F238E27FC236}">
                <a16:creationId xmlns:a16="http://schemas.microsoft.com/office/drawing/2014/main" id="{6770483C-9F0A-1CD7-25EB-87739486709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49127332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EC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22089c74d98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g22089c74d98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EC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6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6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8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8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19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0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20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20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20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2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2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2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3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3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s-EC"/>
          </a:p>
        </p:txBody>
      </p:sp>
      <p:sp>
        <p:nvSpPr>
          <p:cNvPr id="64" name="Google Shape;64;p23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4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5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5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7.xml"/><Relationship Id="rId3" Type="http://schemas.openxmlformats.org/officeDocument/2006/relationships/image" Target="../media/image2.png"/><Relationship Id="rId7" Type="http://schemas.openxmlformats.org/officeDocument/2006/relationships/slide" Target="slide6.xml"/><Relationship Id="rId12" Type="http://schemas.openxmlformats.org/officeDocument/2006/relationships/slide" Target="slide1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slide" Target="slide5.xml"/><Relationship Id="rId11" Type="http://schemas.openxmlformats.org/officeDocument/2006/relationships/slide" Target="slide10.xml"/><Relationship Id="rId5" Type="http://schemas.openxmlformats.org/officeDocument/2006/relationships/slide" Target="slide4.xml"/><Relationship Id="rId10" Type="http://schemas.openxmlformats.org/officeDocument/2006/relationships/slide" Target="slide9.xml"/><Relationship Id="rId4" Type="http://schemas.openxmlformats.org/officeDocument/2006/relationships/slide" Target="slide3.xml"/><Relationship Id="rId9" Type="http://schemas.openxmlformats.org/officeDocument/2006/relationships/slide" Target="slide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demogrupo1front.goitsa.me/" TargetMode="Externa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omunicado Oficial - UEES - Universidad Espíritu Santo">
            <a:extLst>
              <a:ext uri="{FF2B5EF4-FFF2-40B4-BE49-F238E27FC236}">
                <a16:creationId xmlns:a16="http://schemas.microsoft.com/office/drawing/2014/main" id="{60B1369E-8661-E01F-1866-49A2E0A008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15268" y="7868"/>
            <a:ext cx="3652916" cy="20293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4" name="Google Shape;84;p1"/>
          <p:cNvSpPr/>
          <p:nvPr/>
        </p:nvSpPr>
        <p:spPr>
          <a:xfrm rot="-8100000">
            <a:off x="14324902" y="1469072"/>
            <a:ext cx="4879847" cy="15755995"/>
          </a:xfrm>
          <a:custGeom>
            <a:avLst/>
            <a:gdLst/>
            <a:ahLst/>
            <a:cxnLst/>
            <a:rect l="l" t="t" r="r" b="b"/>
            <a:pathLst>
              <a:path w="4879847" h="15755995" extrusionOk="0">
                <a:moveTo>
                  <a:pt x="0" y="0"/>
                </a:moveTo>
                <a:lnTo>
                  <a:pt x="4879847" y="0"/>
                </a:lnTo>
                <a:lnTo>
                  <a:pt x="4879847" y="15755996"/>
                </a:lnTo>
                <a:lnTo>
                  <a:pt x="0" y="1575599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l="-525782" t="-40820" b="-52989"/>
            </a:stretch>
          </a:blipFill>
          <a:ln>
            <a:noFill/>
          </a:ln>
        </p:spPr>
        <p:txBody>
          <a:bodyPr/>
          <a:lstStyle/>
          <a:p>
            <a:endParaRPr lang="es-EC" noProof="0" dirty="0"/>
          </a:p>
        </p:txBody>
      </p:sp>
      <p:sp>
        <p:nvSpPr>
          <p:cNvPr id="86" name="Google Shape;86;p1"/>
          <p:cNvSpPr/>
          <p:nvPr/>
        </p:nvSpPr>
        <p:spPr>
          <a:xfrm rot="2700000">
            <a:off x="521329" y="-3317944"/>
            <a:ext cx="2336254" cy="7543272"/>
          </a:xfrm>
          <a:custGeom>
            <a:avLst/>
            <a:gdLst/>
            <a:ahLst/>
            <a:cxnLst/>
            <a:rect l="l" t="t" r="r" b="b"/>
            <a:pathLst>
              <a:path w="2336254" h="7543272" extrusionOk="0">
                <a:moveTo>
                  <a:pt x="0" y="0"/>
                </a:moveTo>
                <a:lnTo>
                  <a:pt x="2336254" y="0"/>
                </a:lnTo>
                <a:lnTo>
                  <a:pt x="2336254" y="7543273"/>
                </a:lnTo>
                <a:lnTo>
                  <a:pt x="0" y="75432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l="-525782" t="-40820" b="-52989"/>
            </a:stretch>
          </a:blipFill>
          <a:ln>
            <a:noFill/>
          </a:ln>
        </p:spPr>
        <p:txBody>
          <a:bodyPr/>
          <a:lstStyle/>
          <a:p>
            <a:endParaRPr lang="es-EC" noProof="0" dirty="0"/>
          </a:p>
        </p:txBody>
      </p:sp>
      <p:sp>
        <p:nvSpPr>
          <p:cNvPr id="87" name="Google Shape;87;p1"/>
          <p:cNvSpPr/>
          <p:nvPr/>
        </p:nvSpPr>
        <p:spPr>
          <a:xfrm rot="2708328">
            <a:off x="9786933" y="8499369"/>
            <a:ext cx="4018080" cy="3956261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EC" sz="1800" b="0" i="0" u="none" strike="noStrike" cap="none" noProof="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"/>
          <p:cNvSpPr/>
          <p:nvPr/>
        </p:nvSpPr>
        <p:spPr>
          <a:xfrm rot="2708328">
            <a:off x="16181728" y="6542130"/>
            <a:ext cx="4018080" cy="5186608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EC" sz="1800" b="0" i="0" u="none" strike="noStrike" cap="none" noProof="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/>
          <p:nvPr/>
        </p:nvSpPr>
        <p:spPr>
          <a:xfrm rot="2708328">
            <a:off x="12319185" y="8489343"/>
            <a:ext cx="4018080" cy="3956261"/>
          </a:xfrm>
          <a:prstGeom prst="rect">
            <a:avLst/>
          </a:prstGeom>
          <a:solidFill>
            <a:srgbClr val="79163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EC" sz="1800" b="0" i="0" u="none" strike="noStrike" cap="none" noProof="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/>
          <p:nvPr/>
        </p:nvSpPr>
        <p:spPr>
          <a:xfrm rot="2708328">
            <a:off x="15278068" y="2550195"/>
            <a:ext cx="4018080" cy="5186608"/>
          </a:xfrm>
          <a:prstGeom prst="rect">
            <a:avLst/>
          </a:prstGeom>
          <a:solidFill>
            <a:srgbClr val="79163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EC" sz="1800" b="0" i="0" u="none" strike="noStrike" cap="none" noProof="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/>
          <p:nvPr/>
        </p:nvSpPr>
        <p:spPr>
          <a:xfrm rot="2708328">
            <a:off x="-1930035" y="-2608220"/>
            <a:ext cx="4018080" cy="5186608"/>
          </a:xfrm>
          <a:prstGeom prst="rect">
            <a:avLst/>
          </a:prstGeom>
          <a:solidFill>
            <a:srgbClr val="79163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EC" sz="1800" b="0" i="0" u="none" strike="noStrike" cap="none" noProof="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85;p1">
            <a:extLst>
              <a:ext uri="{FF2B5EF4-FFF2-40B4-BE49-F238E27FC236}">
                <a16:creationId xmlns:a16="http://schemas.microsoft.com/office/drawing/2014/main" id="{8C15950E-5465-0875-648C-58D01B873A8B}"/>
              </a:ext>
            </a:extLst>
          </p:cNvPr>
          <p:cNvSpPr txBox="1"/>
          <p:nvPr/>
        </p:nvSpPr>
        <p:spPr>
          <a:xfrm>
            <a:off x="2301382" y="1012896"/>
            <a:ext cx="12329126" cy="1679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38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C" sz="4400" b="1" noProof="0" dirty="0">
                <a:solidFill>
                  <a:schemeClr val="accent2"/>
                </a:solidFill>
                <a:latin typeface="Montserrat" panose="00000500000000000000" pitchFamily="2" charset="0"/>
              </a:rPr>
              <a:t>Proyecto Integrador de Inteligencia Artificial</a:t>
            </a:r>
          </a:p>
        </p:txBody>
      </p:sp>
      <p:sp>
        <p:nvSpPr>
          <p:cNvPr id="4" name="Google Shape;85;p1">
            <a:extLst>
              <a:ext uri="{FF2B5EF4-FFF2-40B4-BE49-F238E27FC236}">
                <a16:creationId xmlns:a16="http://schemas.microsoft.com/office/drawing/2014/main" id="{116336F8-0F68-4002-E9AF-1B8B5D2287E8}"/>
              </a:ext>
            </a:extLst>
          </p:cNvPr>
          <p:cNvSpPr txBox="1"/>
          <p:nvPr/>
        </p:nvSpPr>
        <p:spPr>
          <a:xfrm>
            <a:off x="2907528" y="3395678"/>
            <a:ext cx="9932843" cy="20609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238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C" sz="3600" noProof="0" dirty="0">
                <a:solidFill>
                  <a:schemeClr val="tx1"/>
                </a:solidFill>
                <a:latin typeface="Montserrat" panose="00000500000000000000" pitchFamily="2" charset="0"/>
              </a:rPr>
              <a:t>Agente de Inteligencia artificial para asistencia y guía usando lenguaje natural en una plataforma de gestión documental.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BE33317-6BBC-43A4-CF93-6DB4AAA640D0}"/>
              </a:ext>
            </a:extLst>
          </p:cNvPr>
          <p:cNvSpPr txBox="1"/>
          <p:nvPr/>
        </p:nvSpPr>
        <p:spPr>
          <a:xfrm>
            <a:off x="943906" y="3372119"/>
            <a:ext cx="202347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C" sz="3600" b="1" noProof="0" dirty="0">
                <a:solidFill>
                  <a:schemeClr val="accent2"/>
                </a:solidFill>
                <a:latin typeface="Montserrat" panose="00000500000000000000" pitchFamily="2" charset="0"/>
              </a:rPr>
              <a:t>Título</a:t>
            </a:r>
            <a:r>
              <a:rPr lang="es-EC" sz="4000" b="1" noProof="0" dirty="0">
                <a:solidFill>
                  <a:schemeClr val="accent2"/>
                </a:solidFill>
                <a:latin typeface="Montserrat" panose="00000500000000000000" pitchFamily="2" charset="0"/>
              </a:rPr>
              <a:t>: </a:t>
            </a:r>
            <a:endParaRPr lang="es-EC" sz="4000" noProof="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D8B365-E262-4F8E-FB47-CDB1CD2CDFFC}"/>
              </a:ext>
            </a:extLst>
          </p:cNvPr>
          <p:cNvSpPr txBox="1"/>
          <p:nvPr/>
        </p:nvSpPr>
        <p:spPr>
          <a:xfrm>
            <a:off x="573000" y="6940187"/>
            <a:ext cx="276529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C" sz="3200" b="1" noProof="0" dirty="0">
                <a:solidFill>
                  <a:schemeClr val="accent2"/>
                </a:solidFill>
                <a:latin typeface="Montserrat" panose="00000500000000000000" pitchFamily="2" charset="0"/>
              </a:rPr>
              <a:t>Autores</a:t>
            </a:r>
            <a:r>
              <a:rPr lang="es-EC" sz="4000" b="1" noProof="0" dirty="0">
                <a:solidFill>
                  <a:schemeClr val="accent2"/>
                </a:solidFill>
                <a:latin typeface="Montserrat" panose="00000500000000000000" pitchFamily="2" charset="0"/>
              </a:rPr>
              <a:t>: </a:t>
            </a:r>
            <a:endParaRPr lang="es-EC" sz="4000" noProof="0" dirty="0"/>
          </a:p>
        </p:txBody>
      </p:sp>
      <p:sp>
        <p:nvSpPr>
          <p:cNvPr id="8" name="Google Shape;85;p1">
            <a:extLst>
              <a:ext uri="{FF2B5EF4-FFF2-40B4-BE49-F238E27FC236}">
                <a16:creationId xmlns:a16="http://schemas.microsoft.com/office/drawing/2014/main" id="{091AA09B-19FE-2D5F-1612-610328ABE6DD}"/>
              </a:ext>
            </a:extLst>
          </p:cNvPr>
          <p:cNvSpPr txBox="1"/>
          <p:nvPr/>
        </p:nvSpPr>
        <p:spPr>
          <a:xfrm>
            <a:off x="2907529" y="7047995"/>
            <a:ext cx="9932843" cy="10686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38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C" sz="2800" noProof="0" dirty="0">
                <a:solidFill>
                  <a:schemeClr val="tx1"/>
                </a:solidFill>
                <a:latin typeface="Montserrat" panose="00000500000000000000" pitchFamily="2" charset="0"/>
              </a:rPr>
              <a:t>Bryan Ismael Alvarado Quimiz</a:t>
            </a:r>
          </a:p>
          <a:p>
            <a:pPr marL="0" marR="0" lvl="0" indent="0" algn="l" rtl="0">
              <a:lnSpc>
                <a:spcPct val="1238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C" sz="2800" noProof="0" dirty="0">
                <a:solidFill>
                  <a:schemeClr val="tx1"/>
                </a:solidFill>
                <a:latin typeface="Montserrat" panose="00000500000000000000" pitchFamily="2" charset="0"/>
              </a:rPr>
              <a:t>Diego André Arámbulo Vítores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76C7F35-69A2-125D-7182-358489C58F2A}"/>
              </a:ext>
            </a:extLst>
          </p:cNvPr>
          <p:cNvSpPr txBox="1"/>
          <p:nvPr/>
        </p:nvSpPr>
        <p:spPr>
          <a:xfrm>
            <a:off x="330964" y="8086642"/>
            <a:ext cx="288546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C" sz="3200" b="1" noProof="0" dirty="0">
                <a:solidFill>
                  <a:schemeClr val="accent2"/>
                </a:solidFill>
                <a:latin typeface="Montserrat" panose="00000500000000000000" pitchFamily="2" charset="0"/>
              </a:rPr>
              <a:t>Directora</a:t>
            </a:r>
            <a:r>
              <a:rPr lang="es-EC" sz="4000" b="1" noProof="0" dirty="0">
                <a:solidFill>
                  <a:schemeClr val="accent2"/>
                </a:solidFill>
                <a:latin typeface="Montserrat" panose="00000500000000000000" pitchFamily="2" charset="0"/>
              </a:rPr>
              <a:t>: </a:t>
            </a:r>
            <a:endParaRPr lang="es-EC" sz="4000" noProof="0" dirty="0"/>
          </a:p>
        </p:txBody>
      </p:sp>
      <p:sp>
        <p:nvSpPr>
          <p:cNvPr id="11" name="Google Shape;85;p1">
            <a:extLst>
              <a:ext uri="{FF2B5EF4-FFF2-40B4-BE49-F238E27FC236}">
                <a16:creationId xmlns:a16="http://schemas.microsoft.com/office/drawing/2014/main" id="{68B227E6-F4D6-40B0-0A24-4F655809280D}"/>
              </a:ext>
            </a:extLst>
          </p:cNvPr>
          <p:cNvSpPr txBox="1"/>
          <p:nvPr/>
        </p:nvSpPr>
        <p:spPr>
          <a:xfrm>
            <a:off x="2907529" y="8260215"/>
            <a:ext cx="9932843" cy="534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38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C" sz="2800" noProof="0" dirty="0">
                <a:solidFill>
                  <a:schemeClr val="tx1"/>
                </a:solidFill>
                <a:latin typeface="Montserrat" panose="00000500000000000000" pitchFamily="2" charset="0"/>
              </a:rPr>
              <a:t>Alexandra Jacqueline Arciniegas Coral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782E40A-3772-7D51-E756-A9ECC130144D}"/>
              </a:ext>
            </a:extLst>
          </p:cNvPr>
          <p:cNvSpPr txBox="1"/>
          <p:nvPr/>
        </p:nvSpPr>
        <p:spPr>
          <a:xfrm>
            <a:off x="246725" y="8951783"/>
            <a:ext cx="288546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C" sz="3200" b="1" noProof="0" dirty="0">
                <a:solidFill>
                  <a:schemeClr val="accent2"/>
                </a:solidFill>
                <a:latin typeface="Montserrat" panose="00000500000000000000" pitchFamily="2" charset="0"/>
              </a:rPr>
              <a:t>Programa</a:t>
            </a:r>
            <a:r>
              <a:rPr lang="es-EC" sz="4000" b="1" noProof="0" dirty="0">
                <a:solidFill>
                  <a:schemeClr val="accent2"/>
                </a:solidFill>
                <a:latin typeface="Montserrat" panose="00000500000000000000" pitchFamily="2" charset="0"/>
              </a:rPr>
              <a:t>: </a:t>
            </a:r>
            <a:endParaRPr lang="es-EC" sz="4000" noProof="0" dirty="0"/>
          </a:p>
        </p:txBody>
      </p:sp>
      <p:sp>
        <p:nvSpPr>
          <p:cNvPr id="13" name="Google Shape;85;p1">
            <a:extLst>
              <a:ext uri="{FF2B5EF4-FFF2-40B4-BE49-F238E27FC236}">
                <a16:creationId xmlns:a16="http://schemas.microsoft.com/office/drawing/2014/main" id="{982B9494-EF9E-2206-17EA-76D9BE953A6C}"/>
              </a:ext>
            </a:extLst>
          </p:cNvPr>
          <p:cNvSpPr txBox="1"/>
          <p:nvPr/>
        </p:nvSpPr>
        <p:spPr>
          <a:xfrm>
            <a:off x="2859305" y="9085156"/>
            <a:ext cx="9932843" cy="10686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38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C" sz="2800" noProof="0" dirty="0">
                <a:solidFill>
                  <a:schemeClr val="tx1"/>
                </a:solidFill>
                <a:latin typeface="Montserrat" panose="00000500000000000000" pitchFamily="2" charset="0"/>
              </a:rPr>
              <a:t>Maestría en Inteligencia Artificial </a:t>
            </a:r>
          </a:p>
          <a:p>
            <a:pPr marL="0" marR="0" lvl="0" indent="0" algn="l" rtl="0">
              <a:lnSpc>
                <a:spcPct val="1238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C" sz="2800" noProof="0" dirty="0">
                <a:solidFill>
                  <a:schemeClr val="tx1"/>
                </a:solidFill>
                <a:latin typeface="Montserrat" panose="00000500000000000000" pitchFamily="2" charset="0"/>
              </a:rPr>
              <a:t>UEES - 2026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C522DB1-B840-802D-F46B-EB8FE3E674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924704" y="3487182"/>
            <a:ext cx="4253379" cy="425337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/>
          <p:nvPr/>
        </p:nvSpPr>
        <p:spPr>
          <a:xfrm rot="8231041">
            <a:off x="13216914" y="-2949524"/>
            <a:ext cx="3889773" cy="12559257"/>
          </a:xfrm>
          <a:custGeom>
            <a:avLst/>
            <a:gdLst/>
            <a:ahLst/>
            <a:cxnLst/>
            <a:rect l="l" t="t" r="r" b="b"/>
            <a:pathLst>
              <a:path w="3889773" h="12559257" extrusionOk="0">
                <a:moveTo>
                  <a:pt x="0" y="0"/>
                </a:moveTo>
                <a:lnTo>
                  <a:pt x="3889773" y="0"/>
                </a:lnTo>
                <a:lnTo>
                  <a:pt x="3889773" y="12559257"/>
                </a:lnTo>
                <a:lnTo>
                  <a:pt x="0" y="1255925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525782" t="-40820" b="-52989"/>
            </a:stretch>
          </a:blipFill>
          <a:ln>
            <a:noFill/>
          </a:ln>
        </p:spPr>
        <p:txBody>
          <a:bodyPr/>
          <a:lstStyle/>
          <a:p>
            <a:endParaRPr lang="es-EC" noProof="0" dirty="0"/>
          </a:p>
        </p:txBody>
      </p:sp>
      <p:grpSp>
        <p:nvGrpSpPr>
          <p:cNvPr id="97" name="Google Shape;97;p2"/>
          <p:cNvGrpSpPr/>
          <p:nvPr/>
        </p:nvGrpSpPr>
        <p:grpSpPr>
          <a:xfrm rot="-2468074">
            <a:off x="13858621" y="4724128"/>
            <a:ext cx="8739806" cy="5505414"/>
            <a:chOff x="0" y="-47625"/>
            <a:chExt cx="2301842" cy="1449986"/>
          </a:xfrm>
        </p:grpSpPr>
        <p:sp>
          <p:nvSpPr>
            <p:cNvPr id="98" name="Google Shape;98;p2"/>
            <p:cNvSpPr/>
            <p:nvPr/>
          </p:nvSpPr>
          <p:spPr>
            <a:xfrm>
              <a:off x="0" y="0"/>
              <a:ext cx="2301842" cy="1402361"/>
            </a:xfrm>
            <a:custGeom>
              <a:avLst/>
              <a:gdLst/>
              <a:ahLst/>
              <a:cxnLst/>
              <a:rect l="l" t="t" r="r" b="b"/>
              <a:pathLst>
                <a:path w="2301842" h="1402361" extrusionOk="0">
                  <a:moveTo>
                    <a:pt x="0" y="0"/>
                  </a:moveTo>
                  <a:lnTo>
                    <a:pt x="2301842" y="0"/>
                  </a:lnTo>
                  <a:lnTo>
                    <a:pt x="2301842" y="1402361"/>
                  </a:lnTo>
                  <a:lnTo>
                    <a:pt x="0" y="1402361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/>
            <a:lstStyle/>
            <a:p>
              <a:endParaRPr lang="es-EC" noProof="0" dirty="0"/>
            </a:p>
          </p:txBody>
        </p:sp>
        <p:sp>
          <p:nvSpPr>
            <p:cNvPr id="99" name="Google Shape;99;p2"/>
            <p:cNvSpPr txBox="1"/>
            <p:nvPr/>
          </p:nvSpPr>
          <p:spPr>
            <a:xfrm>
              <a:off x="0" y="-47625"/>
              <a:ext cx="2301842" cy="1449986"/>
            </a:xfrm>
            <a:prstGeom prst="rect">
              <a:avLst/>
            </a:prstGeom>
            <a:solidFill>
              <a:srgbClr val="7F7F7F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es-EC" sz="1800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0" name="Google Shape;100;p2"/>
          <p:cNvGrpSpPr/>
          <p:nvPr/>
        </p:nvGrpSpPr>
        <p:grpSpPr>
          <a:xfrm rot="-2468074">
            <a:off x="15372766" y="6211268"/>
            <a:ext cx="4609127" cy="5054368"/>
            <a:chOff x="0" y="-47625"/>
            <a:chExt cx="1213926" cy="1331192"/>
          </a:xfrm>
        </p:grpSpPr>
        <p:sp>
          <p:nvSpPr>
            <p:cNvPr id="101" name="Google Shape;101;p2"/>
            <p:cNvSpPr/>
            <p:nvPr/>
          </p:nvSpPr>
          <p:spPr>
            <a:xfrm>
              <a:off x="0" y="0"/>
              <a:ext cx="1213926" cy="1283567"/>
            </a:xfrm>
            <a:custGeom>
              <a:avLst/>
              <a:gdLst/>
              <a:ahLst/>
              <a:cxnLst/>
              <a:rect l="l" t="t" r="r" b="b"/>
              <a:pathLst>
                <a:path w="1213926" h="1283567" extrusionOk="0">
                  <a:moveTo>
                    <a:pt x="0" y="0"/>
                  </a:moveTo>
                  <a:lnTo>
                    <a:pt x="1213926" y="0"/>
                  </a:lnTo>
                  <a:lnTo>
                    <a:pt x="1213926" y="1283567"/>
                  </a:lnTo>
                  <a:lnTo>
                    <a:pt x="0" y="128356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 cmpd="sng">
              <a:solidFill>
                <a:schemeClr val="lt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EC" noProof="0" dirty="0"/>
            </a:p>
          </p:txBody>
        </p:sp>
        <p:sp>
          <p:nvSpPr>
            <p:cNvPr id="102" name="Google Shape;102;p2"/>
            <p:cNvSpPr txBox="1"/>
            <p:nvPr/>
          </p:nvSpPr>
          <p:spPr>
            <a:xfrm>
              <a:off x="0" y="-47625"/>
              <a:ext cx="1213926" cy="1331192"/>
            </a:xfrm>
            <a:prstGeom prst="rect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es-EC" sz="1800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3" name="Google Shape;103;p2"/>
          <p:cNvGrpSpPr/>
          <p:nvPr/>
        </p:nvGrpSpPr>
        <p:grpSpPr>
          <a:xfrm>
            <a:off x="10977613" y="0"/>
            <a:ext cx="7310387" cy="8224186"/>
            <a:chOff x="0" y="0"/>
            <a:chExt cx="5370413" cy="6041715"/>
          </a:xfrm>
        </p:grpSpPr>
        <p:sp>
          <p:nvSpPr>
            <p:cNvPr id="104" name="Google Shape;104;p2"/>
            <p:cNvSpPr/>
            <p:nvPr/>
          </p:nvSpPr>
          <p:spPr>
            <a:xfrm>
              <a:off x="0" y="0"/>
              <a:ext cx="5370413" cy="6041715"/>
            </a:xfrm>
            <a:custGeom>
              <a:avLst/>
              <a:gdLst/>
              <a:ahLst/>
              <a:cxnLst/>
              <a:rect l="l" t="t" r="r" b="b"/>
              <a:pathLst>
                <a:path w="5370413" h="6041715" extrusionOk="0">
                  <a:moveTo>
                    <a:pt x="5370413" y="0"/>
                  </a:moveTo>
                  <a:lnTo>
                    <a:pt x="5370413" y="6041715"/>
                  </a:lnTo>
                  <a:cubicBezTo>
                    <a:pt x="3580275" y="4027810"/>
                    <a:pt x="1790138" y="2013905"/>
                    <a:pt x="0" y="0"/>
                  </a:cubicBezTo>
                  <a:lnTo>
                    <a:pt x="5370413" y="0"/>
                  </a:lnTo>
                  <a:close/>
                </a:path>
              </a:pathLst>
            </a:custGeom>
            <a:solidFill>
              <a:srgbClr val="79163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C" noProof="0" dirty="0"/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0" y="0"/>
              <a:ext cx="5370413" cy="6041715"/>
            </a:xfrm>
            <a:custGeom>
              <a:avLst/>
              <a:gdLst/>
              <a:ahLst/>
              <a:cxnLst/>
              <a:rect l="l" t="t" r="r" b="b"/>
              <a:pathLst>
                <a:path w="5370413" h="6041715" extrusionOk="0">
                  <a:moveTo>
                    <a:pt x="5370413" y="0"/>
                  </a:moveTo>
                  <a:lnTo>
                    <a:pt x="5370413" y="6041715"/>
                  </a:lnTo>
                  <a:cubicBezTo>
                    <a:pt x="3580275" y="4027810"/>
                    <a:pt x="1790138" y="2013905"/>
                    <a:pt x="0" y="0"/>
                  </a:cubicBezTo>
                  <a:lnTo>
                    <a:pt x="5370413" y="0"/>
                  </a:lnTo>
                  <a:close/>
                </a:path>
              </a:pathLst>
            </a:custGeom>
            <a:solidFill>
              <a:srgbClr val="79163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s-EC" noProof="0" dirty="0"/>
            </a:p>
          </p:txBody>
        </p:sp>
      </p:grpSp>
      <p:sp>
        <p:nvSpPr>
          <p:cNvPr id="106" name="Google Shape;106;p2"/>
          <p:cNvSpPr txBox="1"/>
          <p:nvPr/>
        </p:nvSpPr>
        <p:spPr>
          <a:xfrm>
            <a:off x="11018435" y="2223588"/>
            <a:ext cx="3260717" cy="6694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ts val="5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C" sz="2899" noProof="0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  <a:hlinkClick r:id="rId4" action="ppaction://hlinksldjump"/>
              </a:rPr>
              <a:t>Slide</a:t>
            </a:r>
            <a:r>
              <a:rPr lang="es-EC" sz="2899" noProof="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  <a:hlinkClick r:id="rId4" action="ppaction://hlinksldjump"/>
              </a:rPr>
              <a:t> 3</a:t>
            </a:r>
            <a:endParaRPr lang="es-EC" sz="2899" b="0" i="0" u="none" strike="noStrike" cap="none" noProof="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ts val="5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C" sz="2899" b="0" i="0" u="none" strike="noStrike" cap="none" noProof="0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  <a:hlinkClick r:id="rId5" action="ppaction://hlinksldjump"/>
              </a:rPr>
              <a:t>Slide</a:t>
            </a:r>
            <a:r>
              <a:rPr lang="es-EC" sz="2899" b="0" i="0" u="none" strike="noStrike" cap="none" noProof="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  <a:hlinkClick r:id="rId5" action="ppaction://hlinksldjump"/>
              </a:rPr>
              <a:t> 4</a:t>
            </a:r>
            <a:endParaRPr lang="es-EC" sz="2899" b="0" i="0" u="none" strike="noStrike" cap="none" noProof="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ts val="5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C" sz="2899" b="0" i="0" u="none" strike="noStrike" cap="none" noProof="0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  <a:hlinkClick r:id="rId6" action="ppaction://hlinksldjump"/>
              </a:rPr>
              <a:t>Slide</a:t>
            </a:r>
            <a:r>
              <a:rPr lang="es-EC" sz="2899" b="0" i="0" u="none" strike="noStrike" cap="none" noProof="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  <a:hlinkClick r:id="rId6" action="ppaction://hlinksldjump"/>
              </a:rPr>
              <a:t> 5</a:t>
            </a:r>
            <a:endParaRPr lang="es-EC" sz="2899" b="0" i="0" u="none" strike="noStrike" cap="none" noProof="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ts val="5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C" sz="2899" b="0" i="0" u="none" strike="noStrike" cap="none" noProof="0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  <a:hlinkClick r:id="rId7" action="ppaction://hlinksldjump"/>
              </a:rPr>
              <a:t>Slide</a:t>
            </a:r>
            <a:r>
              <a:rPr lang="es-EC" sz="2899" b="0" i="0" u="none" strike="noStrike" cap="none" noProof="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  <a:hlinkClick r:id="rId7" action="ppaction://hlinksldjump"/>
              </a:rPr>
              <a:t> 6</a:t>
            </a:r>
            <a:endParaRPr lang="es-EC" sz="2899" b="0" i="0" u="none" strike="noStrike" cap="none" noProof="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ts val="5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C" sz="2899" b="0" i="0" u="none" strike="noStrike" cap="none" noProof="0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  <a:hlinkClick r:id="rId8" action="ppaction://hlinksldjump"/>
              </a:rPr>
              <a:t>Slide</a:t>
            </a:r>
            <a:r>
              <a:rPr lang="es-EC" sz="2899" b="0" i="0" u="none" strike="noStrike" cap="none" noProof="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  <a:hlinkClick r:id="rId8" action="ppaction://hlinksldjump"/>
              </a:rPr>
              <a:t> 7</a:t>
            </a:r>
            <a:endParaRPr lang="es-EC" sz="2899" noProof="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ts val="5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C" sz="2899" b="0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  <a:hlinkClick r:id="rId9" action="ppaction://hlinksldjump"/>
              </a:rPr>
              <a:t>Slide</a:t>
            </a:r>
            <a:r>
              <a:rPr lang="es-EC" sz="2899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  <a:hlinkClick r:id="rId9" action="ppaction://hlinksldjump"/>
              </a:rPr>
              <a:t> 8</a:t>
            </a:r>
            <a:endParaRPr lang="es-EC" sz="2899" b="0" i="0" u="none" strike="noStrike" cap="none" noProof="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ts val="5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C" sz="2899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  <a:hlinkClick r:id="rId10" action="ppaction://hlinksldjump"/>
              </a:rPr>
              <a:t>Slide</a:t>
            </a:r>
            <a:r>
              <a:rPr lang="es-EC" sz="2899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  <a:hlinkClick r:id="rId10" action="ppaction://hlinksldjump"/>
              </a:rPr>
              <a:t> 9</a:t>
            </a:r>
            <a:endParaRPr lang="es-EC" sz="2899" noProof="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ts val="5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C" sz="2899" b="0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  <a:hlinkClick r:id="rId11" action="ppaction://hlinksldjump"/>
              </a:rPr>
              <a:t>Slide</a:t>
            </a:r>
            <a:r>
              <a:rPr lang="es-EC" sz="2899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  <a:hlinkClick r:id="rId11" action="ppaction://hlinksldjump"/>
              </a:rPr>
              <a:t> 10</a:t>
            </a:r>
            <a:endParaRPr lang="es-EC" sz="2899" b="0" i="0" u="none" strike="noStrike" cap="none" noProof="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ts val="5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C" sz="2899" b="0" i="0" u="none" strike="noStrike" cap="none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  <a:hlinkClick r:id="rId12" action="ppaction://hlinksldjump"/>
              </a:rPr>
              <a:t>Slide</a:t>
            </a:r>
            <a:r>
              <a:rPr lang="es-EC" sz="2899" b="0" i="0" u="none" strike="noStrike" cap="none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  <a:hlinkClick r:id="rId12" action="ppaction://hlinksldjump"/>
              </a:rPr>
              <a:t> 11</a:t>
            </a:r>
            <a:endParaRPr lang="es-EC" sz="2899" b="0" i="0" u="none" strike="noStrike" cap="none" noProof="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7" name="Google Shape;107;p2"/>
          <p:cNvSpPr txBox="1"/>
          <p:nvPr/>
        </p:nvSpPr>
        <p:spPr>
          <a:xfrm>
            <a:off x="6388813" y="632553"/>
            <a:ext cx="4588800" cy="13074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C" sz="7080" b="1" noProof="0" dirty="0">
                <a:solidFill>
                  <a:schemeClr val="dk1"/>
                </a:solidFill>
                <a:latin typeface="Montserrat"/>
                <a:sym typeface="Montserrat"/>
              </a:rPr>
              <a:t>Índices</a:t>
            </a:r>
            <a:endParaRPr lang="es-EC" noProof="0" dirty="0"/>
          </a:p>
        </p:txBody>
      </p:sp>
      <p:cxnSp>
        <p:nvCxnSpPr>
          <p:cNvPr id="109" name="Google Shape;109;p2"/>
          <p:cNvCxnSpPr>
            <a:cxnSpLocks/>
          </p:cNvCxnSpPr>
          <p:nvPr/>
        </p:nvCxnSpPr>
        <p:spPr>
          <a:xfrm flipV="1">
            <a:off x="10362340" y="2539215"/>
            <a:ext cx="1" cy="6119832"/>
          </a:xfrm>
          <a:prstGeom prst="straightConnector1">
            <a:avLst/>
          </a:prstGeom>
          <a:noFill/>
          <a:ln w="38100" cap="flat" cmpd="sng">
            <a:solidFill>
              <a:srgbClr val="052A47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10" name="Google Shape;110;p2"/>
          <p:cNvGrpSpPr/>
          <p:nvPr/>
        </p:nvGrpSpPr>
        <p:grpSpPr>
          <a:xfrm rot="2694003">
            <a:off x="-4438949" y="6839950"/>
            <a:ext cx="8739806" cy="5505414"/>
            <a:chOff x="0" y="-47625"/>
            <a:chExt cx="2301842" cy="1449986"/>
          </a:xfrm>
        </p:grpSpPr>
        <p:sp>
          <p:nvSpPr>
            <p:cNvPr id="111" name="Google Shape;111;p2"/>
            <p:cNvSpPr/>
            <p:nvPr/>
          </p:nvSpPr>
          <p:spPr>
            <a:xfrm>
              <a:off x="0" y="0"/>
              <a:ext cx="2301842" cy="1402361"/>
            </a:xfrm>
            <a:custGeom>
              <a:avLst/>
              <a:gdLst/>
              <a:ahLst/>
              <a:cxnLst/>
              <a:rect l="l" t="t" r="r" b="b"/>
              <a:pathLst>
                <a:path w="2301842" h="1402361" extrusionOk="0">
                  <a:moveTo>
                    <a:pt x="0" y="0"/>
                  </a:moveTo>
                  <a:lnTo>
                    <a:pt x="2301842" y="0"/>
                  </a:lnTo>
                  <a:lnTo>
                    <a:pt x="2301842" y="1402361"/>
                  </a:lnTo>
                  <a:lnTo>
                    <a:pt x="0" y="1402361"/>
                  </a:lnTo>
                  <a:close/>
                </a:path>
              </a:pathLst>
            </a:custGeom>
            <a:solidFill>
              <a:srgbClr val="791632"/>
            </a:solidFill>
            <a:ln>
              <a:noFill/>
            </a:ln>
          </p:spPr>
          <p:txBody>
            <a:bodyPr/>
            <a:lstStyle/>
            <a:p>
              <a:endParaRPr lang="es-EC" noProof="0" dirty="0"/>
            </a:p>
          </p:txBody>
        </p:sp>
        <p:sp>
          <p:nvSpPr>
            <p:cNvPr id="112" name="Google Shape;112;p2"/>
            <p:cNvSpPr txBox="1"/>
            <p:nvPr/>
          </p:nvSpPr>
          <p:spPr>
            <a:xfrm>
              <a:off x="0" y="-47625"/>
              <a:ext cx="2301842" cy="1449986"/>
            </a:xfrm>
            <a:prstGeom prst="rect">
              <a:avLst/>
            </a:prstGeom>
            <a:solidFill>
              <a:srgbClr val="791632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es-EC" sz="1800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8" name="Google Shape;108;p2"/>
          <p:cNvSpPr txBox="1"/>
          <p:nvPr/>
        </p:nvSpPr>
        <p:spPr>
          <a:xfrm>
            <a:off x="2996670" y="2459810"/>
            <a:ext cx="7066106" cy="6278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s-EC" sz="2400" b="1" noProof="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Planteamiento del problema.</a:t>
            </a:r>
          </a:p>
          <a:p>
            <a:pPr lvl="0"/>
            <a:endParaRPr lang="es-EC" sz="2400" b="1" noProof="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lvl="0"/>
            <a:r>
              <a:rPr lang="es-EC" sz="2400" b="1" noProof="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Justificación y contexto.</a:t>
            </a:r>
          </a:p>
          <a:p>
            <a:pPr lvl="0"/>
            <a:endParaRPr lang="es-EC" sz="2400" b="1" noProof="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lvl="0"/>
            <a:r>
              <a:rPr lang="es-EC" sz="2400" b="1" noProof="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Revisión del estado del arte.</a:t>
            </a:r>
          </a:p>
          <a:p>
            <a:pPr lvl="0"/>
            <a:endParaRPr lang="es-EC" sz="2400" b="1" noProof="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lvl="0"/>
            <a:r>
              <a:rPr lang="es-EC" sz="2400" b="1" noProof="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Selección de técnicas y modelos.</a:t>
            </a:r>
          </a:p>
          <a:p>
            <a:pPr lvl="0"/>
            <a:endParaRPr lang="es-EC" sz="2400" b="1" noProof="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lvl="0"/>
            <a:r>
              <a:rPr lang="es-EC" sz="2400" b="1" noProof="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Preparación y análisis de datos.</a:t>
            </a:r>
          </a:p>
          <a:p>
            <a:pPr lvl="0"/>
            <a:endParaRPr lang="es-EC" sz="2400" b="1" noProof="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lvl="0"/>
            <a:r>
              <a:rPr lang="es-EC" sz="2400" b="1" noProof="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Evaluación, optimización y validación.</a:t>
            </a:r>
          </a:p>
          <a:p>
            <a:pPr lvl="0"/>
            <a:endParaRPr lang="es-EC" sz="2400" b="1" noProof="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lvl="0"/>
            <a:r>
              <a:rPr lang="es-EC" sz="2400" b="1" noProof="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Consideraciones éticas y de impacto social.</a:t>
            </a:r>
          </a:p>
          <a:p>
            <a:pPr lvl="0"/>
            <a:endParaRPr lang="es-EC" sz="2400" b="1" noProof="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lvl="0"/>
            <a:r>
              <a:rPr lang="es-EC" sz="2400" b="1" noProof="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Demostración del sistema (demo).</a:t>
            </a:r>
          </a:p>
          <a:p>
            <a:pPr lvl="0"/>
            <a:endParaRPr lang="es-EC" sz="2400" b="1" noProof="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lvl="0"/>
            <a:r>
              <a:rPr lang="es-EC" sz="2400" b="1" noProof="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Resultados y conclusiones.</a:t>
            </a:r>
            <a:endParaRPr lang="es-EC" noProof="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>
          <a:extLst>
            <a:ext uri="{FF2B5EF4-FFF2-40B4-BE49-F238E27FC236}">
              <a16:creationId xmlns:a16="http://schemas.microsoft.com/office/drawing/2014/main" id="{0CB0D742-2858-EAEB-F51D-C9B42C2802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22089c74d98_0_6">
            <a:extLst>
              <a:ext uri="{FF2B5EF4-FFF2-40B4-BE49-F238E27FC236}">
                <a16:creationId xmlns:a16="http://schemas.microsoft.com/office/drawing/2014/main" id="{32BD5B69-E493-E462-E3E9-56EBD12D201F}"/>
              </a:ext>
            </a:extLst>
          </p:cNvPr>
          <p:cNvSpPr/>
          <p:nvPr/>
        </p:nvSpPr>
        <p:spPr>
          <a:xfrm rot="-9976565">
            <a:off x="9971189" y="-1142915"/>
            <a:ext cx="3893977" cy="12572829"/>
          </a:xfrm>
          <a:custGeom>
            <a:avLst/>
            <a:gdLst/>
            <a:ahLst/>
            <a:cxnLst/>
            <a:rect l="l" t="t" r="r" b="b"/>
            <a:pathLst>
              <a:path w="3889773" h="12559257" extrusionOk="0">
                <a:moveTo>
                  <a:pt x="0" y="0"/>
                </a:moveTo>
                <a:lnTo>
                  <a:pt x="3889773" y="0"/>
                </a:lnTo>
                <a:lnTo>
                  <a:pt x="3889773" y="12559257"/>
                </a:lnTo>
                <a:lnTo>
                  <a:pt x="0" y="1255925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525743" t="-40817" b="-52988"/>
            </a:stretch>
          </a:blipFill>
          <a:ln>
            <a:noFill/>
          </a:ln>
        </p:spPr>
        <p:txBody>
          <a:bodyPr/>
          <a:lstStyle/>
          <a:p>
            <a:endParaRPr lang="es-EC" noProof="0" dirty="0"/>
          </a:p>
        </p:txBody>
      </p:sp>
      <p:sp>
        <p:nvSpPr>
          <p:cNvPr id="198" name="Google Shape;198;g22089c74d98_0_6">
            <a:extLst>
              <a:ext uri="{FF2B5EF4-FFF2-40B4-BE49-F238E27FC236}">
                <a16:creationId xmlns:a16="http://schemas.microsoft.com/office/drawing/2014/main" id="{D5B549E3-5EF4-D83C-2499-E5243764C501}"/>
              </a:ext>
            </a:extLst>
          </p:cNvPr>
          <p:cNvSpPr/>
          <p:nvPr/>
        </p:nvSpPr>
        <p:spPr>
          <a:xfrm>
            <a:off x="9752638" y="-870991"/>
            <a:ext cx="9617378" cy="11495582"/>
          </a:xfrm>
          <a:custGeom>
            <a:avLst/>
            <a:gdLst/>
            <a:ahLst/>
            <a:cxnLst/>
            <a:rect l="l" t="t" r="r" b="b"/>
            <a:pathLst>
              <a:path w="8606155" h="10286874" extrusionOk="0">
                <a:moveTo>
                  <a:pt x="8606155" y="10251441"/>
                </a:moveTo>
                <a:cubicBezTo>
                  <a:pt x="8606155" y="10284588"/>
                  <a:pt x="8595487" y="10286874"/>
                  <a:pt x="8567674" y="10286874"/>
                </a:cubicBezTo>
                <a:cubicBezTo>
                  <a:pt x="5713094" y="10286239"/>
                  <a:pt x="2858643" y="10286239"/>
                  <a:pt x="4064" y="10286239"/>
                </a:cubicBezTo>
                <a:cubicBezTo>
                  <a:pt x="0" y="10272396"/>
                  <a:pt x="6350" y="10259823"/>
                  <a:pt x="9271" y="10246996"/>
                </a:cubicBezTo>
                <a:cubicBezTo>
                  <a:pt x="134747" y="9685402"/>
                  <a:pt x="260350" y="9123935"/>
                  <a:pt x="386207" y="8562467"/>
                </a:cubicBezTo>
                <a:cubicBezTo>
                  <a:pt x="565658" y="7761986"/>
                  <a:pt x="745490" y="6961633"/>
                  <a:pt x="924814" y="6161151"/>
                </a:cubicBezTo>
                <a:cubicBezTo>
                  <a:pt x="1146302" y="5172583"/>
                  <a:pt x="1367282" y="4184015"/>
                  <a:pt x="1588643" y="3195574"/>
                </a:cubicBezTo>
                <a:cubicBezTo>
                  <a:pt x="1813560" y="2191385"/>
                  <a:pt x="2038604" y="1187323"/>
                  <a:pt x="2264156" y="183261"/>
                </a:cubicBezTo>
                <a:cubicBezTo>
                  <a:pt x="2277872" y="122174"/>
                  <a:pt x="2286635" y="59690"/>
                  <a:pt x="2308860" y="635"/>
                </a:cubicBezTo>
                <a:cubicBezTo>
                  <a:pt x="4395216" y="635"/>
                  <a:pt x="6481572" y="635"/>
                  <a:pt x="8567928" y="0"/>
                </a:cubicBezTo>
                <a:cubicBezTo>
                  <a:pt x="8596249" y="0"/>
                  <a:pt x="8605901" y="3429"/>
                  <a:pt x="8605901" y="35814"/>
                </a:cubicBezTo>
                <a:cubicBezTo>
                  <a:pt x="8605139" y="3441066"/>
                  <a:pt x="8605139" y="6846317"/>
                  <a:pt x="8606155" y="10251441"/>
                </a:cubicBezTo>
                <a:close/>
              </a:path>
            </a:pathLst>
          </a:custGeom>
          <a:solidFill>
            <a:srgbClr val="791632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EC" noProof="0" dirty="0"/>
          </a:p>
        </p:txBody>
      </p:sp>
      <p:sp>
        <p:nvSpPr>
          <p:cNvPr id="199" name="Google Shape;199;g22089c74d98_0_6">
            <a:extLst>
              <a:ext uri="{FF2B5EF4-FFF2-40B4-BE49-F238E27FC236}">
                <a16:creationId xmlns:a16="http://schemas.microsoft.com/office/drawing/2014/main" id="{F9C60BF5-4178-FB80-EF61-6E89C305D84C}"/>
              </a:ext>
            </a:extLst>
          </p:cNvPr>
          <p:cNvSpPr txBox="1"/>
          <p:nvPr/>
        </p:nvSpPr>
        <p:spPr>
          <a:xfrm>
            <a:off x="2258970" y="215662"/>
            <a:ext cx="9617379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C" sz="4800" b="1" noProof="0" dirty="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Planteamiento del problema</a:t>
            </a:r>
            <a:endParaRPr lang="es-EC" sz="4800" noProof="0" dirty="0"/>
          </a:p>
        </p:txBody>
      </p:sp>
      <p:sp>
        <p:nvSpPr>
          <p:cNvPr id="200" name="Google Shape;200;g22089c74d98_0_6">
            <a:extLst>
              <a:ext uri="{FF2B5EF4-FFF2-40B4-BE49-F238E27FC236}">
                <a16:creationId xmlns:a16="http://schemas.microsoft.com/office/drawing/2014/main" id="{84D987A6-025A-9203-81CD-CC2FD2FC6C2D}"/>
              </a:ext>
            </a:extLst>
          </p:cNvPr>
          <p:cNvSpPr txBox="1"/>
          <p:nvPr/>
        </p:nvSpPr>
        <p:spPr>
          <a:xfrm>
            <a:off x="1499188" y="3258726"/>
            <a:ext cx="8412900" cy="2326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lvl="0" indent="-342900" algn="just" rtl="0">
              <a:lnSpc>
                <a:spcPct val="14004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 panose="020B0604020202020204" pitchFamily="34" charset="0"/>
              <a:buChar char="•"/>
            </a:pPr>
            <a:r>
              <a:rPr lang="es-EC" sz="2800" b="1" noProof="0" dirty="0">
                <a:solidFill>
                  <a:srgbClr val="2A2E3A"/>
                </a:solidFill>
                <a:latin typeface="Montserrat" panose="00000500000000000000" pitchFamily="2" charset="0"/>
                <a:ea typeface="Montserrat"/>
                <a:cs typeface="Montserrat"/>
                <a:sym typeface="Montserrat"/>
              </a:rPr>
              <a:t>70% </a:t>
            </a:r>
            <a:r>
              <a:rPr lang="es-EC" sz="2800" noProof="0" dirty="0">
                <a:solidFill>
                  <a:srgbClr val="2A2E3A"/>
                </a:solidFill>
                <a:latin typeface="Montserrat" panose="00000500000000000000" pitchFamily="2" charset="0"/>
                <a:ea typeface="Montserrat"/>
                <a:cs typeface="Montserrat"/>
                <a:sym typeface="Montserrat"/>
              </a:rPr>
              <a:t>de las empresas en LATAM usan gestión documental</a:t>
            </a:r>
          </a:p>
          <a:p>
            <a:pPr marL="342900" lvl="0" indent="-342900" algn="just" rtl="0">
              <a:lnSpc>
                <a:spcPct val="14004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 panose="020B0604020202020204" pitchFamily="34" charset="0"/>
              <a:buChar char="•"/>
            </a:pPr>
            <a:r>
              <a:rPr lang="es-EC" sz="2800" b="1" noProof="0" dirty="0">
                <a:solidFill>
                  <a:srgbClr val="2A2E3A"/>
                </a:solidFill>
                <a:latin typeface="Montserrat" panose="00000500000000000000" pitchFamily="2" charset="0"/>
                <a:sym typeface="Montserrat"/>
              </a:rPr>
              <a:t>73% </a:t>
            </a:r>
            <a:r>
              <a:rPr lang="es-EC" sz="2800" noProof="0" dirty="0">
                <a:solidFill>
                  <a:srgbClr val="2A2E3A"/>
                </a:solidFill>
                <a:latin typeface="Montserrat" panose="00000500000000000000" pitchFamily="2" charset="0"/>
                <a:sym typeface="Montserrat"/>
              </a:rPr>
              <a:t>prefieren interfaces conversacionales</a:t>
            </a:r>
            <a:endParaRPr lang="es-EC" sz="2800" noProof="0" dirty="0">
              <a:solidFill>
                <a:schemeClr val="dk1"/>
              </a:solidFill>
              <a:latin typeface="Montserrat" panose="00000500000000000000" pitchFamily="2" charset="0"/>
            </a:endParaRPr>
          </a:p>
          <a:p>
            <a:pPr marL="0" marR="0" lvl="0" indent="0" algn="l" rtl="0">
              <a:lnSpc>
                <a:spcPct val="13996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EC" sz="2400" noProof="0" dirty="0">
              <a:solidFill>
                <a:srgbClr val="2A2E3A"/>
              </a:solidFill>
              <a:latin typeface="Montserrat" panose="00000500000000000000" pitchFamily="2" charset="0"/>
              <a:ea typeface="Montserrat"/>
              <a:cs typeface="Montserrat"/>
              <a:sym typeface="Montserrat"/>
            </a:endParaRPr>
          </a:p>
        </p:txBody>
      </p:sp>
      <p:sp>
        <p:nvSpPr>
          <p:cNvPr id="201" name="Google Shape;201;g22089c74d98_0_6">
            <a:extLst>
              <a:ext uri="{FF2B5EF4-FFF2-40B4-BE49-F238E27FC236}">
                <a16:creationId xmlns:a16="http://schemas.microsoft.com/office/drawing/2014/main" id="{8268D3B3-7764-B6BF-BF8C-8F6F2206883D}"/>
              </a:ext>
            </a:extLst>
          </p:cNvPr>
          <p:cNvSpPr/>
          <p:nvPr/>
        </p:nvSpPr>
        <p:spPr>
          <a:xfrm>
            <a:off x="200924" y="-457200"/>
            <a:ext cx="865632" cy="1794020"/>
          </a:xfrm>
          <a:custGeom>
            <a:avLst/>
            <a:gdLst/>
            <a:ahLst/>
            <a:cxnLst/>
            <a:rect l="l" t="t" r="r" b="b"/>
            <a:pathLst>
              <a:path w="812800" h="1204040" extrusionOk="0">
                <a:moveTo>
                  <a:pt x="0" y="0"/>
                </a:moveTo>
                <a:lnTo>
                  <a:pt x="609600" y="0"/>
                </a:lnTo>
                <a:lnTo>
                  <a:pt x="812800" y="602020"/>
                </a:lnTo>
                <a:lnTo>
                  <a:pt x="609600" y="1204040"/>
                </a:lnTo>
                <a:lnTo>
                  <a:pt x="0" y="1204040"/>
                </a:lnTo>
                <a:lnTo>
                  <a:pt x="203200" y="602020"/>
                </a:lnTo>
                <a:lnTo>
                  <a:pt x="0" y="0"/>
                </a:lnTo>
                <a:close/>
              </a:path>
            </a:pathLst>
          </a:custGeom>
          <a:solidFill>
            <a:srgbClr val="791632"/>
          </a:solidFill>
          <a:ln>
            <a:noFill/>
          </a:ln>
        </p:spPr>
        <p:txBody>
          <a:bodyPr/>
          <a:lstStyle/>
          <a:p>
            <a:endParaRPr lang="es-EC" noProof="0" dirty="0"/>
          </a:p>
        </p:txBody>
      </p:sp>
      <p:sp>
        <p:nvSpPr>
          <p:cNvPr id="202" name="Google Shape;202;g22089c74d98_0_6">
            <a:extLst>
              <a:ext uri="{FF2B5EF4-FFF2-40B4-BE49-F238E27FC236}">
                <a16:creationId xmlns:a16="http://schemas.microsoft.com/office/drawing/2014/main" id="{B6AA0988-69D0-0E7E-EEBD-01AC1DEFE303}"/>
              </a:ext>
            </a:extLst>
          </p:cNvPr>
          <p:cNvSpPr/>
          <p:nvPr/>
        </p:nvSpPr>
        <p:spPr>
          <a:xfrm>
            <a:off x="1066372" y="-457200"/>
            <a:ext cx="865632" cy="1794020"/>
          </a:xfrm>
          <a:custGeom>
            <a:avLst/>
            <a:gdLst/>
            <a:ahLst/>
            <a:cxnLst/>
            <a:rect l="l" t="t" r="r" b="b"/>
            <a:pathLst>
              <a:path w="812800" h="1204040" extrusionOk="0">
                <a:moveTo>
                  <a:pt x="0" y="0"/>
                </a:moveTo>
                <a:lnTo>
                  <a:pt x="609600" y="0"/>
                </a:lnTo>
                <a:lnTo>
                  <a:pt x="812800" y="602020"/>
                </a:lnTo>
                <a:lnTo>
                  <a:pt x="609600" y="1204040"/>
                </a:lnTo>
                <a:lnTo>
                  <a:pt x="0" y="1204040"/>
                </a:lnTo>
                <a:lnTo>
                  <a:pt x="203200" y="602020"/>
                </a:lnTo>
                <a:lnTo>
                  <a:pt x="0" y="0"/>
                </a:lnTo>
                <a:close/>
              </a:path>
            </a:pathLst>
          </a:custGeom>
          <a:solidFill>
            <a:srgbClr val="791632"/>
          </a:solidFill>
          <a:ln>
            <a:noFill/>
          </a:ln>
        </p:spPr>
        <p:txBody>
          <a:bodyPr/>
          <a:lstStyle/>
          <a:p>
            <a:endParaRPr lang="es-EC" noProof="0" dirty="0"/>
          </a:p>
        </p:txBody>
      </p:sp>
      <p:sp>
        <p:nvSpPr>
          <p:cNvPr id="2" name="Google Shape;199;g22089c74d98_0_6">
            <a:extLst>
              <a:ext uri="{FF2B5EF4-FFF2-40B4-BE49-F238E27FC236}">
                <a16:creationId xmlns:a16="http://schemas.microsoft.com/office/drawing/2014/main" id="{EC01F58F-0059-5A1E-9F72-F466B0E5C4BF}"/>
              </a:ext>
            </a:extLst>
          </p:cNvPr>
          <p:cNvSpPr txBox="1"/>
          <p:nvPr/>
        </p:nvSpPr>
        <p:spPr>
          <a:xfrm>
            <a:off x="1932005" y="1165211"/>
            <a:ext cx="9078895" cy="1181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C" sz="3200" b="1" noProof="0" dirty="0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¿Cuanto tiempo pierde un operario buscando un documento?</a:t>
            </a:r>
            <a:endParaRPr lang="es-EC" sz="3200" noProof="0" dirty="0">
              <a:solidFill>
                <a:schemeClr val="accent2"/>
              </a:solidFill>
            </a:endParaRPr>
          </a:p>
        </p:txBody>
      </p:sp>
      <p:sp>
        <p:nvSpPr>
          <p:cNvPr id="3" name="Google Shape;200;g22089c74d98_0_6">
            <a:extLst>
              <a:ext uri="{FF2B5EF4-FFF2-40B4-BE49-F238E27FC236}">
                <a16:creationId xmlns:a16="http://schemas.microsoft.com/office/drawing/2014/main" id="{32ADFF12-0972-C24D-16B7-351675AD2C56}"/>
              </a:ext>
            </a:extLst>
          </p:cNvPr>
          <p:cNvSpPr txBox="1"/>
          <p:nvPr/>
        </p:nvSpPr>
        <p:spPr>
          <a:xfrm>
            <a:off x="786840" y="6366305"/>
            <a:ext cx="9512038" cy="1809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lvl="0" indent="-342900" algn="l" rtl="0">
              <a:lnSpc>
                <a:spcPct val="14004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 panose="020B0604020202020204" pitchFamily="34" charset="0"/>
              <a:buChar char="•"/>
            </a:pPr>
            <a:r>
              <a:rPr lang="es-EC" sz="2800" noProof="0" dirty="0">
                <a:solidFill>
                  <a:srgbClr val="2A2E3A"/>
                </a:solidFill>
                <a:latin typeface="Montserrat" panose="00000500000000000000" pitchFamily="2" charset="0"/>
                <a:ea typeface="Montserrat"/>
                <a:cs typeface="Montserrat"/>
                <a:sym typeface="Montserrat"/>
              </a:rPr>
              <a:t>Interfaces complejas =&gt; Curva de aprendizaje alta</a:t>
            </a:r>
          </a:p>
          <a:p>
            <a:pPr marL="342900" lvl="2" indent="-342900">
              <a:lnSpc>
                <a:spcPct val="140043"/>
              </a:lnSpc>
              <a:buClr>
                <a:schemeClr val="dk1"/>
              </a:buClr>
              <a:buFont typeface="Arial" panose="020B0604020202020204" pitchFamily="34" charset="0"/>
              <a:buChar char="•"/>
            </a:pPr>
            <a:r>
              <a:rPr lang="es-EC" sz="2800" noProof="0" dirty="0">
                <a:solidFill>
                  <a:srgbClr val="2A2E3A"/>
                </a:solidFill>
                <a:latin typeface="Montserrat" panose="00000500000000000000" pitchFamily="2" charset="0"/>
                <a:ea typeface="Montserrat"/>
                <a:cs typeface="Montserrat"/>
                <a:sym typeface="Montserrat"/>
              </a:rPr>
              <a:t>Solicitudes simultaneas =&gt; Cuello de botella</a:t>
            </a:r>
          </a:p>
          <a:p>
            <a:pPr marL="342900" lvl="2" indent="-342900">
              <a:lnSpc>
                <a:spcPct val="140043"/>
              </a:lnSpc>
              <a:buClr>
                <a:schemeClr val="dk1"/>
              </a:buClr>
              <a:buFont typeface="Arial" panose="020B0604020202020204" pitchFamily="34" charset="0"/>
              <a:buChar char="•"/>
            </a:pPr>
            <a:r>
              <a:rPr lang="es-EC" sz="2800" noProof="0" dirty="0">
                <a:solidFill>
                  <a:srgbClr val="2A2E3A"/>
                </a:solidFill>
                <a:latin typeface="Montserrat" panose="00000500000000000000" pitchFamily="2" charset="0"/>
                <a:ea typeface="Montserrat"/>
                <a:cs typeface="Montserrat"/>
                <a:sym typeface="Montserrat"/>
              </a:rPr>
              <a:t>Soporte humano saturado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51A97D7-18B6-908D-68EA-5EF9D5EAD9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4197" y="1336820"/>
            <a:ext cx="14154259" cy="76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61507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>
          <a:extLst>
            <a:ext uri="{FF2B5EF4-FFF2-40B4-BE49-F238E27FC236}">
              <a16:creationId xmlns:a16="http://schemas.microsoft.com/office/drawing/2014/main" id="{A68B2E1F-5AE0-523C-7070-7E3BBBCA8A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22089c74d98_0_6">
            <a:extLst>
              <a:ext uri="{FF2B5EF4-FFF2-40B4-BE49-F238E27FC236}">
                <a16:creationId xmlns:a16="http://schemas.microsoft.com/office/drawing/2014/main" id="{7AD31C2A-DCBE-E7FD-6317-9792565F7329}"/>
              </a:ext>
            </a:extLst>
          </p:cNvPr>
          <p:cNvSpPr/>
          <p:nvPr/>
        </p:nvSpPr>
        <p:spPr>
          <a:xfrm rot="-9976565">
            <a:off x="15468219" y="-1142916"/>
            <a:ext cx="3893977" cy="12572829"/>
          </a:xfrm>
          <a:custGeom>
            <a:avLst/>
            <a:gdLst/>
            <a:ahLst/>
            <a:cxnLst/>
            <a:rect l="l" t="t" r="r" b="b"/>
            <a:pathLst>
              <a:path w="3889773" h="12559257" extrusionOk="0">
                <a:moveTo>
                  <a:pt x="0" y="0"/>
                </a:moveTo>
                <a:lnTo>
                  <a:pt x="3889773" y="0"/>
                </a:lnTo>
                <a:lnTo>
                  <a:pt x="3889773" y="12559257"/>
                </a:lnTo>
                <a:lnTo>
                  <a:pt x="0" y="1255925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525743" t="-40817" b="-52988"/>
            </a:stretch>
          </a:blipFill>
          <a:ln>
            <a:noFill/>
          </a:ln>
        </p:spPr>
        <p:txBody>
          <a:bodyPr/>
          <a:lstStyle/>
          <a:p>
            <a:endParaRPr lang="es-EC" noProof="0" dirty="0"/>
          </a:p>
        </p:txBody>
      </p:sp>
      <p:sp>
        <p:nvSpPr>
          <p:cNvPr id="198" name="Google Shape;198;g22089c74d98_0_6">
            <a:extLst>
              <a:ext uri="{FF2B5EF4-FFF2-40B4-BE49-F238E27FC236}">
                <a16:creationId xmlns:a16="http://schemas.microsoft.com/office/drawing/2014/main" id="{2E849E26-6A49-394E-901A-CF9CE125D571}"/>
              </a:ext>
            </a:extLst>
          </p:cNvPr>
          <p:cNvSpPr/>
          <p:nvPr/>
        </p:nvSpPr>
        <p:spPr>
          <a:xfrm>
            <a:off x="15057054" y="-604292"/>
            <a:ext cx="9617378" cy="11495582"/>
          </a:xfrm>
          <a:custGeom>
            <a:avLst/>
            <a:gdLst/>
            <a:ahLst/>
            <a:cxnLst/>
            <a:rect l="l" t="t" r="r" b="b"/>
            <a:pathLst>
              <a:path w="8606155" h="10286874" extrusionOk="0">
                <a:moveTo>
                  <a:pt x="8606155" y="10251441"/>
                </a:moveTo>
                <a:cubicBezTo>
                  <a:pt x="8606155" y="10284588"/>
                  <a:pt x="8595487" y="10286874"/>
                  <a:pt x="8567674" y="10286874"/>
                </a:cubicBezTo>
                <a:cubicBezTo>
                  <a:pt x="5713094" y="10286239"/>
                  <a:pt x="2858643" y="10286239"/>
                  <a:pt x="4064" y="10286239"/>
                </a:cubicBezTo>
                <a:cubicBezTo>
                  <a:pt x="0" y="10272396"/>
                  <a:pt x="6350" y="10259823"/>
                  <a:pt x="9271" y="10246996"/>
                </a:cubicBezTo>
                <a:cubicBezTo>
                  <a:pt x="134747" y="9685402"/>
                  <a:pt x="260350" y="9123935"/>
                  <a:pt x="386207" y="8562467"/>
                </a:cubicBezTo>
                <a:cubicBezTo>
                  <a:pt x="565658" y="7761986"/>
                  <a:pt x="745490" y="6961633"/>
                  <a:pt x="924814" y="6161151"/>
                </a:cubicBezTo>
                <a:cubicBezTo>
                  <a:pt x="1146302" y="5172583"/>
                  <a:pt x="1367282" y="4184015"/>
                  <a:pt x="1588643" y="3195574"/>
                </a:cubicBezTo>
                <a:cubicBezTo>
                  <a:pt x="1813560" y="2191385"/>
                  <a:pt x="2038604" y="1187323"/>
                  <a:pt x="2264156" y="183261"/>
                </a:cubicBezTo>
                <a:cubicBezTo>
                  <a:pt x="2277872" y="122174"/>
                  <a:pt x="2286635" y="59690"/>
                  <a:pt x="2308860" y="635"/>
                </a:cubicBezTo>
                <a:cubicBezTo>
                  <a:pt x="4395216" y="635"/>
                  <a:pt x="6481572" y="635"/>
                  <a:pt x="8567928" y="0"/>
                </a:cubicBezTo>
                <a:cubicBezTo>
                  <a:pt x="8596249" y="0"/>
                  <a:pt x="8605901" y="3429"/>
                  <a:pt x="8605901" y="35814"/>
                </a:cubicBezTo>
                <a:cubicBezTo>
                  <a:pt x="8605139" y="3441066"/>
                  <a:pt x="8605139" y="6846317"/>
                  <a:pt x="8606155" y="10251441"/>
                </a:cubicBezTo>
                <a:close/>
              </a:path>
            </a:pathLst>
          </a:custGeom>
          <a:solidFill>
            <a:srgbClr val="791632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EC" noProof="0" dirty="0"/>
          </a:p>
        </p:txBody>
      </p:sp>
      <p:sp>
        <p:nvSpPr>
          <p:cNvPr id="199" name="Google Shape;199;g22089c74d98_0_6">
            <a:extLst>
              <a:ext uri="{FF2B5EF4-FFF2-40B4-BE49-F238E27FC236}">
                <a16:creationId xmlns:a16="http://schemas.microsoft.com/office/drawing/2014/main" id="{89798597-EBBC-C8E2-15EE-0A8011A12612}"/>
              </a:ext>
            </a:extLst>
          </p:cNvPr>
          <p:cNvSpPr txBox="1"/>
          <p:nvPr/>
        </p:nvSpPr>
        <p:spPr>
          <a:xfrm>
            <a:off x="2697339" y="177251"/>
            <a:ext cx="9617379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C" sz="4800" b="1" noProof="0" dirty="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Justificación y contexto</a:t>
            </a:r>
            <a:endParaRPr lang="es-EC" sz="4800" noProof="0" dirty="0"/>
          </a:p>
        </p:txBody>
      </p:sp>
      <p:sp>
        <p:nvSpPr>
          <p:cNvPr id="200" name="Google Shape;200;g22089c74d98_0_6">
            <a:extLst>
              <a:ext uri="{FF2B5EF4-FFF2-40B4-BE49-F238E27FC236}">
                <a16:creationId xmlns:a16="http://schemas.microsoft.com/office/drawing/2014/main" id="{A585A70B-BE5A-F80D-7A25-BDE7F5E90127}"/>
              </a:ext>
            </a:extLst>
          </p:cNvPr>
          <p:cNvSpPr txBox="1"/>
          <p:nvPr/>
        </p:nvSpPr>
        <p:spPr>
          <a:xfrm>
            <a:off x="2466491" y="2115726"/>
            <a:ext cx="11912012" cy="3533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lvl="0" indent="-342900" algn="just" rtl="0">
              <a:lnSpc>
                <a:spcPct val="14004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 panose="020B0604020202020204" pitchFamily="34" charset="0"/>
              <a:buChar char="•"/>
            </a:pPr>
            <a:r>
              <a:rPr lang="es-EC" sz="2800" b="1" noProof="0" dirty="0">
                <a:solidFill>
                  <a:srgbClr val="2A2E3A"/>
                </a:solidFill>
                <a:latin typeface="Montserrat" panose="00000500000000000000" pitchFamily="2" charset="0"/>
                <a:ea typeface="Montserrat"/>
                <a:cs typeface="Montserrat"/>
                <a:sym typeface="Montserrat"/>
              </a:rPr>
              <a:t>Tecnológica: </a:t>
            </a:r>
            <a:r>
              <a:rPr lang="es-EC" sz="2800" noProof="0" dirty="0">
                <a:solidFill>
                  <a:srgbClr val="2A2E3A"/>
                </a:solidFill>
                <a:latin typeface="Montserrat" panose="00000500000000000000" pitchFamily="2" charset="0"/>
                <a:ea typeface="Montserrat"/>
                <a:cs typeface="Montserrat"/>
                <a:sym typeface="Montserrat"/>
              </a:rPr>
              <a:t>5 componentes principales de IA en un pipeline modular</a:t>
            </a:r>
          </a:p>
          <a:p>
            <a:pPr marL="342900" lvl="0" indent="-342900" algn="just" rtl="0">
              <a:lnSpc>
                <a:spcPct val="14004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 panose="020B0604020202020204" pitchFamily="34" charset="0"/>
              <a:buChar char="•"/>
            </a:pPr>
            <a:r>
              <a:rPr lang="es-EC" sz="2800" b="1" noProof="0" dirty="0">
                <a:solidFill>
                  <a:srgbClr val="2A2E3A"/>
                </a:solidFill>
                <a:latin typeface="Montserrat" panose="00000500000000000000" pitchFamily="2" charset="0"/>
                <a:sym typeface="Montserrat"/>
              </a:rPr>
              <a:t>Empresarial: </a:t>
            </a:r>
            <a:r>
              <a:rPr lang="es-EC" sz="2800" noProof="0" dirty="0">
                <a:solidFill>
                  <a:srgbClr val="2A2E3A"/>
                </a:solidFill>
                <a:latin typeface="Montserrat" panose="00000500000000000000" pitchFamily="2" charset="0"/>
                <a:sym typeface="Montserrat"/>
              </a:rPr>
              <a:t>Automatiza el 60% de consultas de soporte</a:t>
            </a:r>
          </a:p>
          <a:p>
            <a:pPr marL="342900" lvl="0" indent="-342900" algn="just">
              <a:lnSpc>
                <a:spcPct val="140043"/>
              </a:lnSpc>
              <a:buClr>
                <a:schemeClr val="dk1"/>
              </a:buClr>
              <a:buFont typeface="Arial" panose="020B0604020202020204" pitchFamily="34" charset="0"/>
              <a:buChar char="•"/>
            </a:pPr>
            <a:r>
              <a:rPr lang="es-EC" sz="2800" b="1" noProof="0" dirty="0">
                <a:solidFill>
                  <a:srgbClr val="2A2E3A"/>
                </a:solidFill>
                <a:latin typeface="Montserrat" panose="00000500000000000000" pitchFamily="2" charset="0"/>
                <a:sym typeface="Montserrat"/>
              </a:rPr>
              <a:t>Académica: </a:t>
            </a:r>
            <a:r>
              <a:rPr lang="es-EC" sz="2800" noProof="0" dirty="0">
                <a:solidFill>
                  <a:srgbClr val="2A2E3A"/>
                </a:solidFill>
                <a:latin typeface="Montserrat" panose="00000500000000000000" pitchFamily="2" charset="0"/>
                <a:sym typeface="Montserrat"/>
              </a:rPr>
              <a:t>Caso de estudio replicable para PYMES, pipeline 100% local, cumple LOPDP Ecuador 2021</a:t>
            </a:r>
            <a:endParaRPr lang="es-EC" sz="2800" noProof="0" dirty="0">
              <a:solidFill>
                <a:schemeClr val="dk1"/>
              </a:solidFill>
              <a:latin typeface="Montserrat" panose="00000500000000000000" pitchFamily="2" charset="0"/>
            </a:endParaRPr>
          </a:p>
          <a:p>
            <a:pPr marL="0" marR="0" lvl="0" indent="0" algn="l" rtl="0">
              <a:lnSpc>
                <a:spcPct val="13996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EC" sz="2400" noProof="0" dirty="0">
              <a:solidFill>
                <a:srgbClr val="2A2E3A"/>
              </a:solidFill>
              <a:latin typeface="Montserrat" panose="00000500000000000000" pitchFamily="2" charset="0"/>
              <a:ea typeface="Montserrat"/>
              <a:cs typeface="Montserrat"/>
              <a:sym typeface="Montserrat"/>
            </a:endParaRPr>
          </a:p>
        </p:txBody>
      </p:sp>
      <p:sp>
        <p:nvSpPr>
          <p:cNvPr id="201" name="Google Shape;201;g22089c74d98_0_6">
            <a:extLst>
              <a:ext uri="{FF2B5EF4-FFF2-40B4-BE49-F238E27FC236}">
                <a16:creationId xmlns:a16="http://schemas.microsoft.com/office/drawing/2014/main" id="{8A906979-C784-ACB0-1FF9-194A36DC0CD3}"/>
              </a:ext>
            </a:extLst>
          </p:cNvPr>
          <p:cNvSpPr/>
          <p:nvPr/>
        </p:nvSpPr>
        <p:spPr>
          <a:xfrm>
            <a:off x="200924" y="-457200"/>
            <a:ext cx="865632" cy="1794020"/>
          </a:xfrm>
          <a:custGeom>
            <a:avLst/>
            <a:gdLst/>
            <a:ahLst/>
            <a:cxnLst/>
            <a:rect l="l" t="t" r="r" b="b"/>
            <a:pathLst>
              <a:path w="812800" h="1204040" extrusionOk="0">
                <a:moveTo>
                  <a:pt x="0" y="0"/>
                </a:moveTo>
                <a:lnTo>
                  <a:pt x="609600" y="0"/>
                </a:lnTo>
                <a:lnTo>
                  <a:pt x="812800" y="602020"/>
                </a:lnTo>
                <a:lnTo>
                  <a:pt x="609600" y="1204040"/>
                </a:lnTo>
                <a:lnTo>
                  <a:pt x="0" y="1204040"/>
                </a:lnTo>
                <a:lnTo>
                  <a:pt x="203200" y="602020"/>
                </a:lnTo>
                <a:lnTo>
                  <a:pt x="0" y="0"/>
                </a:lnTo>
                <a:close/>
              </a:path>
            </a:pathLst>
          </a:custGeom>
          <a:solidFill>
            <a:srgbClr val="791632"/>
          </a:solidFill>
          <a:ln>
            <a:noFill/>
          </a:ln>
        </p:spPr>
        <p:txBody>
          <a:bodyPr/>
          <a:lstStyle/>
          <a:p>
            <a:endParaRPr lang="es-EC" noProof="0" dirty="0"/>
          </a:p>
        </p:txBody>
      </p:sp>
      <p:sp>
        <p:nvSpPr>
          <p:cNvPr id="202" name="Google Shape;202;g22089c74d98_0_6">
            <a:extLst>
              <a:ext uri="{FF2B5EF4-FFF2-40B4-BE49-F238E27FC236}">
                <a16:creationId xmlns:a16="http://schemas.microsoft.com/office/drawing/2014/main" id="{7961685E-0BF4-EDB3-64A7-0227EDEA805B}"/>
              </a:ext>
            </a:extLst>
          </p:cNvPr>
          <p:cNvSpPr/>
          <p:nvPr/>
        </p:nvSpPr>
        <p:spPr>
          <a:xfrm>
            <a:off x="1066372" y="-457200"/>
            <a:ext cx="865632" cy="1794020"/>
          </a:xfrm>
          <a:custGeom>
            <a:avLst/>
            <a:gdLst/>
            <a:ahLst/>
            <a:cxnLst/>
            <a:rect l="l" t="t" r="r" b="b"/>
            <a:pathLst>
              <a:path w="812800" h="1204040" extrusionOk="0">
                <a:moveTo>
                  <a:pt x="0" y="0"/>
                </a:moveTo>
                <a:lnTo>
                  <a:pt x="609600" y="0"/>
                </a:lnTo>
                <a:lnTo>
                  <a:pt x="812800" y="602020"/>
                </a:lnTo>
                <a:lnTo>
                  <a:pt x="609600" y="1204040"/>
                </a:lnTo>
                <a:lnTo>
                  <a:pt x="0" y="1204040"/>
                </a:lnTo>
                <a:lnTo>
                  <a:pt x="203200" y="602020"/>
                </a:lnTo>
                <a:lnTo>
                  <a:pt x="0" y="0"/>
                </a:lnTo>
                <a:close/>
              </a:path>
            </a:pathLst>
          </a:custGeom>
          <a:solidFill>
            <a:srgbClr val="791632"/>
          </a:solidFill>
          <a:ln>
            <a:noFill/>
          </a:ln>
        </p:spPr>
        <p:txBody>
          <a:bodyPr/>
          <a:lstStyle/>
          <a:p>
            <a:endParaRPr lang="es-EC" noProof="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F316AD1-B0E0-0CD7-3BCB-063EDD5513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8428" y="5303955"/>
            <a:ext cx="12802028" cy="4622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27495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F59AB01-A6AD-7182-1A3A-50B6CDBC0D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70307" y="1745796"/>
            <a:ext cx="6115050" cy="7862207"/>
          </a:xfrm>
          <a:prstGeom prst="rect">
            <a:avLst/>
          </a:prstGeom>
        </p:spPr>
      </p:pic>
      <p:sp>
        <p:nvSpPr>
          <p:cNvPr id="117" name="Google Shape;117;p3"/>
          <p:cNvSpPr txBox="1"/>
          <p:nvPr/>
        </p:nvSpPr>
        <p:spPr>
          <a:xfrm>
            <a:off x="1548385" y="510454"/>
            <a:ext cx="6051735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C" sz="4800" b="1" i="0" u="none" strike="noStrike" cap="none" noProof="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ESTADO DEL ARTE</a:t>
            </a:r>
          </a:p>
        </p:txBody>
      </p:sp>
      <p:sp>
        <p:nvSpPr>
          <p:cNvPr id="118" name="Google Shape;118;p3"/>
          <p:cNvSpPr/>
          <p:nvPr/>
        </p:nvSpPr>
        <p:spPr>
          <a:xfrm>
            <a:off x="16604357" y="5676900"/>
            <a:ext cx="2945028" cy="5777885"/>
          </a:xfrm>
          <a:custGeom>
            <a:avLst/>
            <a:gdLst/>
            <a:ahLst/>
            <a:cxnLst/>
            <a:rect l="l" t="t" r="r" b="b"/>
            <a:pathLst>
              <a:path w="406400" h="797321" extrusionOk="0">
                <a:moveTo>
                  <a:pt x="203200" y="0"/>
                </a:moveTo>
                <a:lnTo>
                  <a:pt x="406400" y="0"/>
                </a:lnTo>
                <a:lnTo>
                  <a:pt x="203200" y="797321"/>
                </a:lnTo>
                <a:lnTo>
                  <a:pt x="0" y="797321"/>
                </a:lnTo>
                <a:lnTo>
                  <a:pt x="203200" y="0"/>
                </a:lnTo>
                <a:close/>
              </a:path>
            </a:pathLst>
          </a:custGeom>
          <a:solidFill>
            <a:srgbClr val="79163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EC" sz="1800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3"/>
          <p:cNvSpPr/>
          <p:nvPr/>
        </p:nvSpPr>
        <p:spPr>
          <a:xfrm>
            <a:off x="-1371921" y="-634385"/>
            <a:ext cx="2743842" cy="5383177"/>
          </a:xfrm>
          <a:custGeom>
            <a:avLst/>
            <a:gdLst/>
            <a:ahLst/>
            <a:cxnLst/>
            <a:rect l="l" t="t" r="r" b="b"/>
            <a:pathLst>
              <a:path w="406400" h="797321" extrusionOk="0">
                <a:moveTo>
                  <a:pt x="203200" y="0"/>
                </a:moveTo>
                <a:lnTo>
                  <a:pt x="406400" y="0"/>
                </a:lnTo>
                <a:lnTo>
                  <a:pt x="203200" y="797321"/>
                </a:lnTo>
                <a:lnTo>
                  <a:pt x="0" y="797321"/>
                </a:lnTo>
                <a:lnTo>
                  <a:pt x="203200" y="0"/>
                </a:lnTo>
                <a:close/>
              </a:path>
            </a:pathLst>
          </a:custGeom>
          <a:solidFill>
            <a:srgbClr val="791632"/>
          </a:solidFill>
          <a:ln>
            <a:noFill/>
          </a:ln>
        </p:spPr>
        <p:txBody>
          <a:bodyPr/>
          <a:lstStyle/>
          <a:p>
            <a:endParaRPr lang="es-EC" noProof="0" dirty="0"/>
          </a:p>
        </p:txBody>
      </p:sp>
      <p:sp>
        <p:nvSpPr>
          <p:cNvPr id="120" name="Google Shape;120;p3"/>
          <p:cNvSpPr/>
          <p:nvPr/>
        </p:nvSpPr>
        <p:spPr>
          <a:xfrm>
            <a:off x="17185844" y="-190500"/>
            <a:ext cx="714563" cy="1401909"/>
          </a:xfrm>
          <a:custGeom>
            <a:avLst/>
            <a:gdLst/>
            <a:ahLst/>
            <a:cxnLst/>
            <a:rect l="l" t="t" r="r" b="b"/>
            <a:pathLst>
              <a:path w="406400" h="797321" extrusionOk="0">
                <a:moveTo>
                  <a:pt x="203200" y="0"/>
                </a:moveTo>
                <a:lnTo>
                  <a:pt x="406400" y="0"/>
                </a:lnTo>
                <a:lnTo>
                  <a:pt x="203200" y="797321"/>
                </a:lnTo>
                <a:lnTo>
                  <a:pt x="0" y="797321"/>
                </a:lnTo>
                <a:lnTo>
                  <a:pt x="203200" y="0"/>
                </a:lnTo>
                <a:close/>
              </a:path>
            </a:pathLst>
          </a:custGeom>
          <a:solidFill>
            <a:srgbClr val="791632"/>
          </a:solidFill>
          <a:ln>
            <a:noFill/>
          </a:ln>
        </p:spPr>
        <p:txBody>
          <a:bodyPr/>
          <a:lstStyle/>
          <a:p>
            <a:endParaRPr lang="es-EC" noProof="0" dirty="0"/>
          </a:p>
        </p:txBody>
      </p:sp>
      <p:sp>
        <p:nvSpPr>
          <p:cNvPr id="121" name="Google Shape;121;p3"/>
          <p:cNvSpPr/>
          <p:nvPr/>
        </p:nvSpPr>
        <p:spPr>
          <a:xfrm>
            <a:off x="17362308" y="499311"/>
            <a:ext cx="714563" cy="1401909"/>
          </a:xfrm>
          <a:custGeom>
            <a:avLst/>
            <a:gdLst/>
            <a:ahLst/>
            <a:cxnLst/>
            <a:rect l="l" t="t" r="r" b="b"/>
            <a:pathLst>
              <a:path w="406400" h="797321" extrusionOk="0">
                <a:moveTo>
                  <a:pt x="203200" y="0"/>
                </a:moveTo>
                <a:lnTo>
                  <a:pt x="406400" y="0"/>
                </a:lnTo>
                <a:lnTo>
                  <a:pt x="203200" y="797321"/>
                </a:lnTo>
                <a:lnTo>
                  <a:pt x="0" y="797321"/>
                </a:lnTo>
                <a:lnTo>
                  <a:pt x="203200" y="0"/>
                </a:lnTo>
                <a:close/>
              </a:path>
            </a:pathLst>
          </a:custGeom>
          <a:solidFill>
            <a:srgbClr val="7F7F7F"/>
          </a:solidFill>
          <a:ln>
            <a:noFill/>
          </a:ln>
        </p:spPr>
        <p:txBody>
          <a:bodyPr/>
          <a:lstStyle/>
          <a:p>
            <a:endParaRPr lang="es-EC" noProof="0" dirty="0"/>
          </a:p>
        </p:txBody>
      </p:sp>
      <p:sp>
        <p:nvSpPr>
          <p:cNvPr id="122" name="Google Shape;122;p3"/>
          <p:cNvSpPr/>
          <p:nvPr/>
        </p:nvSpPr>
        <p:spPr>
          <a:xfrm>
            <a:off x="14711389" y="7425489"/>
            <a:ext cx="2945028" cy="5777885"/>
          </a:xfrm>
          <a:custGeom>
            <a:avLst/>
            <a:gdLst/>
            <a:ahLst/>
            <a:cxnLst/>
            <a:rect l="l" t="t" r="r" b="b"/>
            <a:pathLst>
              <a:path w="406400" h="797321" extrusionOk="0">
                <a:moveTo>
                  <a:pt x="203200" y="0"/>
                </a:moveTo>
                <a:lnTo>
                  <a:pt x="406400" y="0"/>
                </a:lnTo>
                <a:lnTo>
                  <a:pt x="203200" y="797321"/>
                </a:lnTo>
                <a:lnTo>
                  <a:pt x="0" y="797321"/>
                </a:lnTo>
                <a:lnTo>
                  <a:pt x="203200" y="0"/>
                </a:lnTo>
                <a:close/>
              </a:path>
            </a:pathLst>
          </a:custGeom>
          <a:solidFill>
            <a:srgbClr val="7F7F7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EC" sz="1800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4211628C-F4AD-E6C0-910F-9877F1B9DDFE}"/>
              </a:ext>
            </a:extLst>
          </p:cNvPr>
          <p:cNvSpPr/>
          <p:nvPr/>
        </p:nvSpPr>
        <p:spPr>
          <a:xfrm>
            <a:off x="3880714" y="4621643"/>
            <a:ext cx="5486400" cy="50292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/>
          <a:lstStyle/>
          <a:p>
            <a:pPr marL="0" indent="0" algn="l">
              <a:buNone/>
            </a:pPr>
            <a:r>
              <a:rPr lang="es-EC" sz="1300" b="1" noProof="0" dirty="0">
                <a:solidFill>
                  <a:srgbClr val="FFFFFF"/>
                </a:solidFill>
              </a:rPr>
              <a:t>Impacto</a:t>
            </a:r>
            <a:endParaRPr lang="es-EC" sz="1300" noProof="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DF76C810-C208-33E5-4DB8-79AD0CCA0A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5850" y="3318884"/>
            <a:ext cx="9617075" cy="4438650"/>
          </a:xfrm>
          <a:prstGeom prst="rect">
            <a:avLst/>
          </a:prstGeom>
        </p:spPr>
      </p:pic>
      <p:sp>
        <p:nvSpPr>
          <p:cNvPr id="25" name="Google Shape;199;g22089c74d98_0_6">
            <a:extLst>
              <a:ext uri="{FF2B5EF4-FFF2-40B4-BE49-F238E27FC236}">
                <a16:creationId xmlns:a16="http://schemas.microsoft.com/office/drawing/2014/main" id="{EC9EE049-BFB6-C232-B3F8-9645FB4BF958}"/>
              </a:ext>
            </a:extLst>
          </p:cNvPr>
          <p:cNvSpPr txBox="1"/>
          <p:nvPr/>
        </p:nvSpPr>
        <p:spPr>
          <a:xfrm>
            <a:off x="1964681" y="1211409"/>
            <a:ext cx="9078895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C" sz="3200" b="1" noProof="0" dirty="0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¿Qué existe y qué falta?</a:t>
            </a:r>
            <a:endParaRPr lang="es-EC" sz="3200" noProof="0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>
          <a:extLst>
            <a:ext uri="{FF2B5EF4-FFF2-40B4-BE49-F238E27FC236}">
              <a16:creationId xmlns:a16="http://schemas.microsoft.com/office/drawing/2014/main" id="{3672BFBB-3FFB-19CB-2182-8B7778988A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F8D8465-E9AA-C186-FF43-D637AC1249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4697" y="4621643"/>
            <a:ext cx="13131558" cy="5777885"/>
          </a:xfrm>
          <a:prstGeom prst="rect">
            <a:avLst/>
          </a:prstGeom>
        </p:spPr>
      </p:pic>
      <p:sp>
        <p:nvSpPr>
          <p:cNvPr id="117" name="Google Shape;117;p3">
            <a:extLst>
              <a:ext uri="{FF2B5EF4-FFF2-40B4-BE49-F238E27FC236}">
                <a16:creationId xmlns:a16="http://schemas.microsoft.com/office/drawing/2014/main" id="{CBB7218A-A45C-8DE3-09B7-E61CAB19C81D}"/>
              </a:ext>
            </a:extLst>
          </p:cNvPr>
          <p:cNvSpPr txBox="1"/>
          <p:nvPr/>
        </p:nvSpPr>
        <p:spPr>
          <a:xfrm>
            <a:off x="1548385" y="510454"/>
            <a:ext cx="10681715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C" sz="4800" b="1" i="0" u="none" strike="noStrike" cap="none" noProof="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Selección de técnicas y modelos</a:t>
            </a:r>
          </a:p>
        </p:txBody>
      </p:sp>
      <p:sp>
        <p:nvSpPr>
          <p:cNvPr id="118" name="Google Shape;118;p3">
            <a:extLst>
              <a:ext uri="{FF2B5EF4-FFF2-40B4-BE49-F238E27FC236}">
                <a16:creationId xmlns:a16="http://schemas.microsoft.com/office/drawing/2014/main" id="{45F52535-8694-0E77-E823-E7AC6FBDC9DC}"/>
              </a:ext>
            </a:extLst>
          </p:cNvPr>
          <p:cNvSpPr/>
          <p:nvPr/>
        </p:nvSpPr>
        <p:spPr>
          <a:xfrm>
            <a:off x="16604357" y="5676900"/>
            <a:ext cx="2945028" cy="5777885"/>
          </a:xfrm>
          <a:custGeom>
            <a:avLst/>
            <a:gdLst/>
            <a:ahLst/>
            <a:cxnLst/>
            <a:rect l="l" t="t" r="r" b="b"/>
            <a:pathLst>
              <a:path w="406400" h="797321" extrusionOk="0">
                <a:moveTo>
                  <a:pt x="203200" y="0"/>
                </a:moveTo>
                <a:lnTo>
                  <a:pt x="406400" y="0"/>
                </a:lnTo>
                <a:lnTo>
                  <a:pt x="203200" y="797321"/>
                </a:lnTo>
                <a:lnTo>
                  <a:pt x="0" y="797321"/>
                </a:lnTo>
                <a:lnTo>
                  <a:pt x="203200" y="0"/>
                </a:lnTo>
                <a:close/>
              </a:path>
            </a:pathLst>
          </a:custGeom>
          <a:solidFill>
            <a:srgbClr val="79163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EC" sz="1800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3">
            <a:extLst>
              <a:ext uri="{FF2B5EF4-FFF2-40B4-BE49-F238E27FC236}">
                <a16:creationId xmlns:a16="http://schemas.microsoft.com/office/drawing/2014/main" id="{C2819EDB-A657-6DB4-DE48-69974732B308}"/>
              </a:ext>
            </a:extLst>
          </p:cNvPr>
          <p:cNvSpPr/>
          <p:nvPr/>
        </p:nvSpPr>
        <p:spPr>
          <a:xfrm>
            <a:off x="-1371921" y="-634385"/>
            <a:ext cx="2743842" cy="5383177"/>
          </a:xfrm>
          <a:custGeom>
            <a:avLst/>
            <a:gdLst/>
            <a:ahLst/>
            <a:cxnLst/>
            <a:rect l="l" t="t" r="r" b="b"/>
            <a:pathLst>
              <a:path w="406400" h="797321" extrusionOk="0">
                <a:moveTo>
                  <a:pt x="203200" y="0"/>
                </a:moveTo>
                <a:lnTo>
                  <a:pt x="406400" y="0"/>
                </a:lnTo>
                <a:lnTo>
                  <a:pt x="203200" y="797321"/>
                </a:lnTo>
                <a:lnTo>
                  <a:pt x="0" y="797321"/>
                </a:lnTo>
                <a:lnTo>
                  <a:pt x="203200" y="0"/>
                </a:lnTo>
                <a:close/>
              </a:path>
            </a:pathLst>
          </a:custGeom>
          <a:solidFill>
            <a:srgbClr val="791632"/>
          </a:solidFill>
          <a:ln>
            <a:noFill/>
          </a:ln>
        </p:spPr>
        <p:txBody>
          <a:bodyPr/>
          <a:lstStyle/>
          <a:p>
            <a:endParaRPr lang="es-EC" noProof="0" dirty="0"/>
          </a:p>
        </p:txBody>
      </p:sp>
      <p:sp>
        <p:nvSpPr>
          <p:cNvPr id="120" name="Google Shape;120;p3">
            <a:extLst>
              <a:ext uri="{FF2B5EF4-FFF2-40B4-BE49-F238E27FC236}">
                <a16:creationId xmlns:a16="http://schemas.microsoft.com/office/drawing/2014/main" id="{AAED885B-6B90-2E0C-DDDA-BBE163A16D0A}"/>
              </a:ext>
            </a:extLst>
          </p:cNvPr>
          <p:cNvSpPr/>
          <p:nvPr/>
        </p:nvSpPr>
        <p:spPr>
          <a:xfrm>
            <a:off x="17185844" y="-190500"/>
            <a:ext cx="714563" cy="1401909"/>
          </a:xfrm>
          <a:custGeom>
            <a:avLst/>
            <a:gdLst/>
            <a:ahLst/>
            <a:cxnLst/>
            <a:rect l="l" t="t" r="r" b="b"/>
            <a:pathLst>
              <a:path w="406400" h="797321" extrusionOk="0">
                <a:moveTo>
                  <a:pt x="203200" y="0"/>
                </a:moveTo>
                <a:lnTo>
                  <a:pt x="406400" y="0"/>
                </a:lnTo>
                <a:lnTo>
                  <a:pt x="203200" y="797321"/>
                </a:lnTo>
                <a:lnTo>
                  <a:pt x="0" y="797321"/>
                </a:lnTo>
                <a:lnTo>
                  <a:pt x="203200" y="0"/>
                </a:lnTo>
                <a:close/>
              </a:path>
            </a:pathLst>
          </a:custGeom>
          <a:solidFill>
            <a:srgbClr val="791632"/>
          </a:solidFill>
          <a:ln>
            <a:noFill/>
          </a:ln>
        </p:spPr>
        <p:txBody>
          <a:bodyPr/>
          <a:lstStyle/>
          <a:p>
            <a:endParaRPr lang="es-EC" noProof="0" dirty="0"/>
          </a:p>
        </p:txBody>
      </p:sp>
      <p:sp>
        <p:nvSpPr>
          <p:cNvPr id="121" name="Google Shape;121;p3">
            <a:extLst>
              <a:ext uri="{FF2B5EF4-FFF2-40B4-BE49-F238E27FC236}">
                <a16:creationId xmlns:a16="http://schemas.microsoft.com/office/drawing/2014/main" id="{D9C1AD4F-4CF8-0E0C-E039-8ED4C28CEAB4}"/>
              </a:ext>
            </a:extLst>
          </p:cNvPr>
          <p:cNvSpPr/>
          <p:nvPr/>
        </p:nvSpPr>
        <p:spPr>
          <a:xfrm>
            <a:off x="17362308" y="499311"/>
            <a:ext cx="714563" cy="1401909"/>
          </a:xfrm>
          <a:custGeom>
            <a:avLst/>
            <a:gdLst/>
            <a:ahLst/>
            <a:cxnLst/>
            <a:rect l="l" t="t" r="r" b="b"/>
            <a:pathLst>
              <a:path w="406400" h="797321" extrusionOk="0">
                <a:moveTo>
                  <a:pt x="203200" y="0"/>
                </a:moveTo>
                <a:lnTo>
                  <a:pt x="406400" y="0"/>
                </a:lnTo>
                <a:lnTo>
                  <a:pt x="203200" y="797321"/>
                </a:lnTo>
                <a:lnTo>
                  <a:pt x="0" y="797321"/>
                </a:lnTo>
                <a:lnTo>
                  <a:pt x="203200" y="0"/>
                </a:lnTo>
                <a:close/>
              </a:path>
            </a:pathLst>
          </a:custGeom>
          <a:solidFill>
            <a:srgbClr val="7F7F7F"/>
          </a:solidFill>
          <a:ln>
            <a:noFill/>
          </a:ln>
        </p:spPr>
        <p:txBody>
          <a:bodyPr/>
          <a:lstStyle/>
          <a:p>
            <a:endParaRPr lang="es-EC" noProof="0" dirty="0"/>
          </a:p>
        </p:txBody>
      </p:sp>
      <p:sp>
        <p:nvSpPr>
          <p:cNvPr id="122" name="Google Shape;122;p3">
            <a:extLst>
              <a:ext uri="{FF2B5EF4-FFF2-40B4-BE49-F238E27FC236}">
                <a16:creationId xmlns:a16="http://schemas.microsoft.com/office/drawing/2014/main" id="{10C05CDF-EE98-50F5-C03F-21B58385AB6F}"/>
              </a:ext>
            </a:extLst>
          </p:cNvPr>
          <p:cNvSpPr/>
          <p:nvPr/>
        </p:nvSpPr>
        <p:spPr>
          <a:xfrm>
            <a:off x="14711389" y="7425489"/>
            <a:ext cx="2945028" cy="5777885"/>
          </a:xfrm>
          <a:custGeom>
            <a:avLst/>
            <a:gdLst/>
            <a:ahLst/>
            <a:cxnLst/>
            <a:rect l="l" t="t" r="r" b="b"/>
            <a:pathLst>
              <a:path w="406400" h="797321" extrusionOk="0">
                <a:moveTo>
                  <a:pt x="203200" y="0"/>
                </a:moveTo>
                <a:lnTo>
                  <a:pt x="406400" y="0"/>
                </a:lnTo>
                <a:lnTo>
                  <a:pt x="203200" y="797321"/>
                </a:lnTo>
                <a:lnTo>
                  <a:pt x="0" y="797321"/>
                </a:lnTo>
                <a:lnTo>
                  <a:pt x="203200" y="0"/>
                </a:lnTo>
                <a:close/>
              </a:path>
            </a:pathLst>
          </a:custGeom>
          <a:solidFill>
            <a:srgbClr val="7F7F7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EC" sz="1800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6584C9AB-9A39-649B-ADDC-404D72D00A00}"/>
              </a:ext>
            </a:extLst>
          </p:cNvPr>
          <p:cNvSpPr/>
          <p:nvPr/>
        </p:nvSpPr>
        <p:spPr>
          <a:xfrm>
            <a:off x="3880714" y="4621643"/>
            <a:ext cx="5486400" cy="50292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/>
          <a:lstStyle/>
          <a:p>
            <a:pPr marL="0" indent="0" algn="l">
              <a:buNone/>
            </a:pPr>
            <a:r>
              <a:rPr lang="es-EC" sz="1300" b="1" noProof="0" dirty="0">
                <a:solidFill>
                  <a:srgbClr val="FFFFFF"/>
                </a:solidFill>
              </a:rPr>
              <a:t>Impacto</a:t>
            </a:r>
            <a:endParaRPr lang="es-EC" sz="1300" noProof="0" dirty="0"/>
          </a:p>
        </p:txBody>
      </p:sp>
      <p:sp>
        <p:nvSpPr>
          <p:cNvPr id="2" name="Google Shape;199;g22089c74d98_0_6">
            <a:extLst>
              <a:ext uri="{FF2B5EF4-FFF2-40B4-BE49-F238E27FC236}">
                <a16:creationId xmlns:a16="http://schemas.microsoft.com/office/drawing/2014/main" id="{BF117393-57D2-9EB2-5046-4062BB656A61}"/>
              </a:ext>
            </a:extLst>
          </p:cNvPr>
          <p:cNvSpPr txBox="1"/>
          <p:nvPr/>
        </p:nvSpPr>
        <p:spPr>
          <a:xfrm>
            <a:off x="1964681" y="1211409"/>
            <a:ext cx="9078895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C" sz="3200" b="1" noProof="0" dirty="0" err="1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Stack</a:t>
            </a:r>
            <a:r>
              <a:rPr lang="es-EC" sz="3200" b="1" noProof="0" dirty="0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 tecnológico de la propuesta</a:t>
            </a:r>
            <a:endParaRPr lang="es-EC" sz="3200" noProof="0" dirty="0">
              <a:solidFill>
                <a:schemeClr val="accent2"/>
              </a:solidFill>
            </a:endParaRPr>
          </a:p>
        </p:txBody>
      </p:sp>
      <p:sp>
        <p:nvSpPr>
          <p:cNvPr id="4" name="Google Shape;200;g22089c74d98_0_6">
            <a:extLst>
              <a:ext uri="{FF2B5EF4-FFF2-40B4-BE49-F238E27FC236}">
                <a16:creationId xmlns:a16="http://schemas.microsoft.com/office/drawing/2014/main" id="{2324040A-4A1D-F73A-CD16-78382C712698}"/>
              </a:ext>
            </a:extLst>
          </p:cNvPr>
          <p:cNvSpPr txBox="1"/>
          <p:nvPr/>
        </p:nvSpPr>
        <p:spPr>
          <a:xfrm>
            <a:off x="2799377" y="2306226"/>
            <a:ext cx="11912012" cy="2585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lvl="0" indent="-342900" algn="l" rtl="0">
              <a:lnSpc>
                <a:spcPct val="14004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 panose="020B0604020202020204" pitchFamily="34" charset="0"/>
              <a:buChar char="•"/>
            </a:pPr>
            <a:r>
              <a:rPr lang="es-EC" sz="2400" b="1" noProof="0" dirty="0">
                <a:solidFill>
                  <a:srgbClr val="2A2E3A"/>
                </a:solidFill>
                <a:latin typeface="Montserrat" panose="00000500000000000000" pitchFamily="2" charset="0"/>
                <a:ea typeface="Montserrat"/>
                <a:cs typeface="Montserrat"/>
                <a:sym typeface="Montserrat"/>
              </a:rPr>
              <a:t>ASR: </a:t>
            </a:r>
            <a:r>
              <a:rPr lang="es-EC" sz="2400" noProof="0" dirty="0">
                <a:solidFill>
                  <a:srgbClr val="2A2E3A"/>
                </a:solidFill>
                <a:latin typeface="Montserrat" panose="00000500000000000000" pitchFamily="2" charset="0"/>
                <a:ea typeface="Montserrat"/>
                <a:cs typeface="Montserrat"/>
                <a:sym typeface="Montserrat"/>
              </a:rPr>
              <a:t>Google Cloud </a:t>
            </a:r>
            <a:r>
              <a:rPr lang="es-EC" sz="2400" noProof="0" dirty="0" err="1">
                <a:solidFill>
                  <a:srgbClr val="2A2E3A"/>
                </a:solidFill>
                <a:latin typeface="Montserrat" panose="00000500000000000000" pitchFamily="2" charset="0"/>
                <a:ea typeface="Montserrat"/>
                <a:cs typeface="Montserrat"/>
                <a:sym typeface="Montserrat"/>
              </a:rPr>
              <a:t>Speech</a:t>
            </a:r>
            <a:r>
              <a:rPr lang="es-EC" sz="2400" noProof="0" dirty="0">
                <a:solidFill>
                  <a:srgbClr val="2A2E3A"/>
                </a:solidFill>
                <a:latin typeface="Montserrat" panose="00000500000000000000" pitchFamily="2" charset="0"/>
                <a:ea typeface="Montserrat"/>
                <a:cs typeface="Montserrat"/>
                <a:sym typeface="Montserrat"/>
              </a:rPr>
              <a:t>-to-Text</a:t>
            </a:r>
          </a:p>
          <a:p>
            <a:pPr marL="342900" lvl="0" indent="-342900" algn="l" rtl="0">
              <a:lnSpc>
                <a:spcPct val="14004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 panose="020B0604020202020204" pitchFamily="34" charset="0"/>
              <a:buChar char="•"/>
            </a:pPr>
            <a:r>
              <a:rPr lang="es-EC" sz="2400" b="1" noProof="0" dirty="0">
                <a:solidFill>
                  <a:srgbClr val="2A2E3A"/>
                </a:solidFill>
                <a:latin typeface="Montserrat" panose="00000500000000000000" pitchFamily="2" charset="0"/>
                <a:sym typeface="Montserrat"/>
              </a:rPr>
              <a:t>NLU: </a:t>
            </a:r>
            <a:r>
              <a:rPr lang="es-EC" sz="2400" noProof="0" dirty="0">
                <a:solidFill>
                  <a:srgbClr val="2A2E3A"/>
                </a:solidFill>
                <a:latin typeface="Montserrat" panose="00000500000000000000" pitchFamily="2" charset="0"/>
                <a:sym typeface="Montserrat"/>
              </a:rPr>
              <a:t>XLM-</a:t>
            </a:r>
            <a:r>
              <a:rPr lang="es-EC" sz="2400" noProof="0" dirty="0" err="1">
                <a:solidFill>
                  <a:srgbClr val="2A2E3A"/>
                </a:solidFill>
                <a:latin typeface="Montserrat" panose="00000500000000000000" pitchFamily="2" charset="0"/>
                <a:sym typeface="Montserrat"/>
              </a:rPr>
              <a:t>RoBERTa</a:t>
            </a:r>
            <a:r>
              <a:rPr lang="es-EC" sz="2400" noProof="0" dirty="0">
                <a:solidFill>
                  <a:srgbClr val="2A2E3A"/>
                </a:solidFill>
                <a:latin typeface="Montserrat" panose="00000500000000000000" pitchFamily="2" charset="0"/>
                <a:sym typeface="Montserrat"/>
              </a:rPr>
              <a:t> (ANSI / XNLI)· </a:t>
            </a:r>
            <a:r>
              <a:rPr lang="es-EC" sz="2400" noProof="0" dirty="0" err="1">
                <a:solidFill>
                  <a:srgbClr val="2A2E3A"/>
                </a:solidFill>
                <a:latin typeface="Montserrat" panose="00000500000000000000" pitchFamily="2" charset="0"/>
                <a:sym typeface="Montserrat"/>
              </a:rPr>
              <a:t>WikiNEuRal</a:t>
            </a:r>
            <a:r>
              <a:rPr lang="es-EC" sz="2400" noProof="0" dirty="0">
                <a:solidFill>
                  <a:srgbClr val="2A2E3A"/>
                </a:solidFill>
                <a:latin typeface="Montserrat" panose="00000500000000000000" pitchFamily="2" charset="0"/>
                <a:sym typeface="Montserrat"/>
              </a:rPr>
              <a:t> · </a:t>
            </a:r>
            <a:r>
              <a:rPr lang="es-EC" sz="2400" noProof="0" dirty="0" err="1">
                <a:solidFill>
                  <a:srgbClr val="2A2E3A"/>
                </a:solidFill>
                <a:latin typeface="Montserrat" panose="00000500000000000000" pitchFamily="2" charset="0"/>
                <a:sym typeface="Montserrat"/>
              </a:rPr>
              <a:t>spaCy</a:t>
            </a:r>
            <a:endParaRPr lang="es-EC" sz="2400" noProof="0" dirty="0">
              <a:solidFill>
                <a:srgbClr val="2A2E3A"/>
              </a:solidFill>
              <a:latin typeface="Montserrat" panose="00000500000000000000" pitchFamily="2" charset="0"/>
              <a:sym typeface="Montserrat"/>
            </a:endParaRPr>
          </a:p>
          <a:p>
            <a:pPr marL="342900" lvl="0" indent="-342900">
              <a:lnSpc>
                <a:spcPct val="140043"/>
              </a:lnSpc>
              <a:buClr>
                <a:schemeClr val="dk1"/>
              </a:buClr>
              <a:buFont typeface="Arial" panose="020B0604020202020204" pitchFamily="34" charset="0"/>
              <a:buChar char="•"/>
            </a:pPr>
            <a:r>
              <a:rPr lang="es-EC" sz="2400" b="1" noProof="0" dirty="0">
                <a:solidFill>
                  <a:srgbClr val="2A2E3A"/>
                </a:solidFill>
                <a:latin typeface="Montserrat" panose="00000500000000000000" pitchFamily="2" charset="0"/>
                <a:sym typeface="Montserrat"/>
              </a:rPr>
              <a:t>RAG: </a:t>
            </a:r>
            <a:r>
              <a:rPr lang="es-EC" sz="2400" noProof="0" dirty="0">
                <a:solidFill>
                  <a:srgbClr val="2A2E3A"/>
                </a:solidFill>
                <a:latin typeface="Montserrat" panose="00000500000000000000" pitchFamily="2" charset="0"/>
                <a:sym typeface="Montserrat"/>
              </a:rPr>
              <a:t>FAISS + </a:t>
            </a:r>
            <a:r>
              <a:rPr lang="es-EC" sz="2400" noProof="0" dirty="0" err="1">
                <a:solidFill>
                  <a:srgbClr val="2A2E3A"/>
                </a:solidFill>
                <a:latin typeface="Montserrat" panose="00000500000000000000" pitchFamily="2" charset="0"/>
                <a:sym typeface="Montserrat"/>
              </a:rPr>
              <a:t>Qwen</a:t>
            </a:r>
            <a:r>
              <a:rPr lang="es-EC" sz="2400" noProof="0" dirty="0">
                <a:solidFill>
                  <a:srgbClr val="2A2E3A"/>
                </a:solidFill>
                <a:latin typeface="Montserrat" panose="00000500000000000000" pitchFamily="2" charset="0"/>
                <a:sym typeface="Montserrat"/>
              </a:rPr>
              <a:t> 2.5-1.5B3</a:t>
            </a:r>
          </a:p>
          <a:p>
            <a:pPr marL="342900" indent="-342900">
              <a:lnSpc>
                <a:spcPct val="140043"/>
              </a:lnSpc>
              <a:buClr>
                <a:schemeClr val="dk1"/>
              </a:buClr>
              <a:buFont typeface="Arial" panose="020B0604020202020204" pitchFamily="34" charset="0"/>
              <a:buChar char="•"/>
            </a:pPr>
            <a:r>
              <a:rPr lang="es-EC" sz="2400" b="1" noProof="0" dirty="0">
                <a:solidFill>
                  <a:srgbClr val="2A2E3A"/>
                </a:solidFill>
                <a:latin typeface="Montserrat" panose="00000500000000000000" pitchFamily="2" charset="0"/>
                <a:sym typeface="Montserrat"/>
              </a:rPr>
              <a:t>Intenciones: </a:t>
            </a:r>
            <a:r>
              <a:rPr lang="es-EC" sz="2400" noProof="0" dirty="0">
                <a:solidFill>
                  <a:srgbClr val="2A2E3A"/>
                </a:solidFill>
                <a:latin typeface="Montserrat" panose="00000500000000000000" pitchFamily="2" charset="0"/>
                <a:sym typeface="Montserrat"/>
              </a:rPr>
              <a:t> Listar documentos · Descargar · Navegar</a:t>
            </a:r>
          </a:p>
          <a:p>
            <a:pPr marL="342900" indent="-342900">
              <a:lnSpc>
                <a:spcPct val="140043"/>
              </a:lnSpc>
              <a:buClr>
                <a:schemeClr val="dk1"/>
              </a:buClr>
              <a:buFont typeface="Arial" panose="020B0604020202020204" pitchFamily="34" charset="0"/>
              <a:buChar char="•"/>
            </a:pPr>
            <a:r>
              <a:rPr lang="es-EC" sz="2400" b="1" noProof="0" dirty="0" err="1">
                <a:solidFill>
                  <a:srgbClr val="2A2E3A"/>
                </a:solidFill>
                <a:latin typeface="Montserrat" panose="00000500000000000000" pitchFamily="2" charset="0"/>
                <a:sym typeface="Montserrat"/>
              </a:rPr>
              <a:t>Backend</a:t>
            </a:r>
            <a:r>
              <a:rPr lang="es-EC" sz="2400" b="1" noProof="0" dirty="0">
                <a:solidFill>
                  <a:srgbClr val="2A2E3A"/>
                </a:solidFill>
                <a:latin typeface="Montserrat" panose="00000500000000000000" pitchFamily="2" charset="0"/>
                <a:sym typeface="Montserrat"/>
              </a:rPr>
              <a:t>: </a:t>
            </a:r>
            <a:r>
              <a:rPr lang="es-EC" sz="2400" noProof="0" dirty="0">
                <a:solidFill>
                  <a:srgbClr val="2A2E3A"/>
                </a:solidFill>
                <a:latin typeface="Montserrat" panose="00000500000000000000" pitchFamily="2" charset="0"/>
                <a:sym typeface="Montserrat"/>
              </a:rPr>
              <a:t> Python + </a:t>
            </a:r>
            <a:r>
              <a:rPr lang="es-EC" sz="2400" noProof="0" dirty="0" err="1">
                <a:solidFill>
                  <a:srgbClr val="2A2E3A"/>
                </a:solidFill>
                <a:latin typeface="Montserrat" panose="00000500000000000000" pitchFamily="2" charset="0"/>
                <a:sym typeface="Montserrat"/>
              </a:rPr>
              <a:t>FastAPI</a:t>
            </a:r>
            <a:r>
              <a:rPr lang="es-EC" sz="2400" noProof="0" dirty="0">
                <a:solidFill>
                  <a:srgbClr val="2A2E3A"/>
                </a:solidFill>
                <a:latin typeface="Montserrat" panose="00000500000000000000" pitchFamily="2" charset="0"/>
                <a:sym typeface="Montserrat"/>
              </a:rPr>
              <a:t> + Docker + SSL + NGINX</a:t>
            </a:r>
          </a:p>
        </p:txBody>
      </p:sp>
    </p:spTree>
    <p:extLst>
      <p:ext uri="{BB962C8B-B14F-4D97-AF65-F5344CB8AC3E}">
        <p14:creationId xmlns:p14="http://schemas.microsoft.com/office/powerpoint/2010/main" val="32974645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>
          <a:extLst>
            <a:ext uri="{FF2B5EF4-FFF2-40B4-BE49-F238E27FC236}">
              <a16:creationId xmlns:a16="http://schemas.microsoft.com/office/drawing/2014/main" id="{BD0E2C8B-A4D5-0F04-919F-EADF905119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6E73ECE-CE81-3716-C6B0-15C508719E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7763" y="3100074"/>
            <a:ext cx="12190740" cy="7009675"/>
          </a:xfrm>
          <a:prstGeom prst="rect">
            <a:avLst/>
          </a:prstGeom>
        </p:spPr>
      </p:pic>
      <p:sp>
        <p:nvSpPr>
          <p:cNvPr id="197" name="Google Shape;197;g22089c74d98_0_6">
            <a:extLst>
              <a:ext uri="{FF2B5EF4-FFF2-40B4-BE49-F238E27FC236}">
                <a16:creationId xmlns:a16="http://schemas.microsoft.com/office/drawing/2014/main" id="{1008F022-0B8F-2F89-24D6-43DFD9826067}"/>
              </a:ext>
            </a:extLst>
          </p:cNvPr>
          <p:cNvSpPr/>
          <p:nvPr/>
        </p:nvSpPr>
        <p:spPr>
          <a:xfrm rot="-9976565">
            <a:off x="15468219" y="-1142916"/>
            <a:ext cx="3893977" cy="12572829"/>
          </a:xfrm>
          <a:custGeom>
            <a:avLst/>
            <a:gdLst/>
            <a:ahLst/>
            <a:cxnLst/>
            <a:rect l="l" t="t" r="r" b="b"/>
            <a:pathLst>
              <a:path w="3889773" h="12559257" extrusionOk="0">
                <a:moveTo>
                  <a:pt x="0" y="0"/>
                </a:moveTo>
                <a:lnTo>
                  <a:pt x="3889773" y="0"/>
                </a:lnTo>
                <a:lnTo>
                  <a:pt x="3889773" y="12559257"/>
                </a:lnTo>
                <a:lnTo>
                  <a:pt x="0" y="1255925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l="-525743" t="-40817" b="-52988"/>
            </a:stretch>
          </a:blipFill>
          <a:ln>
            <a:noFill/>
          </a:ln>
        </p:spPr>
        <p:txBody>
          <a:bodyPr/>
          <a:lstStyle/>
          <a:p>
            <a:endParaRPr lang="es-EC" noProof="0" dirty="0"/>
          </a:p>
        </p:txBody>
      </p:sp>
      <p:sp>
        <p:nvSpPr>
          <p:cNvPr id="198" name="Google Shape;198;g22089c74d98_0_6">
            <a:extLst>
              <a:ext uri="{FF2B5EF4-FFF2-40B4-BE49-F238E27FC236}">
                <a16:creationId xmlns:a16="http://schemas.microsoft.com/office/drawing/2014/main" id="{9DB525A8-1B66-190F-CE31-079941023B5B}"/>
              </a:ext>
            </a:extLst>
          </p:cNvPr>
          <p:cNvSpPr/>
          <p:nvPr/>
        </p:nvSpPr>
        <p:spPr>
          <a:xfrm>
            <a:off x="15057054" y="-604292"/>
            <a:ext cx="9617378" cy="11495582"/>
          </a:xfrm>
          <a:custGeom>
            <a:avLst/>
            <a:gdLst/>
            <a:ahLst/>
            <a:cxnLst/>
            <a:rect l="l" t="t" r="r" b="b"/>
            <a:pathLst>
              <a:path w="8606155" h="10286874" extrusionOk="0">
                <a:moveTo>
                  <a:pt x="8606155" y="10251441"/>
                </a:moveTo>
                <a:cubicBezTo>
                  <a:pt x="8606155" y="10284588"/>
                  <a:pt x="8595487" y="10286874"/>
                  <a:pt x="8567674" y="10286874"/>
                </a:cubicBezTo>
                <a:cubicBezTo>
                  <a:pt x="5713094" y="10286239"/>
                  <a:pt x="2858643" y="10286239"/>
                  <a:pt x="4064" y="10286239"/>
                </a:cubicBezTo>
                <a:cubicBezTo>
                  <a:pt x="0" y="10272396"/>
                  <a:pt x="6350" y="10259823"/>
                  <a:pt x="9271" y="10246996"/>
                </a:cubicBezTo>
                <a:cubicBezTo>
                  <a:pt x="134747" y="9685402"/>
                  <a:pt x="260350" y="9123935"/>
                  <a:pt x="386207" y="8562467"/>
                </a:cubicBezTo>
                <a:cubicBezTo>
                  <a:pt x="565658" y="7761986"/>
                  <a:pt x="745490" y="6961633"/>
                  <a:pt x="924814" y="6161151"/>
                </a:cubicBezTo>
                <a:cubicBezTo>
                  <a:pt x="1146302" y="5172583"/>
                  <a:pt x="1367282" y="4184015"/>
                  <a:pt x="1588643" y="3195574"/>
                </a:cubicBezTo>
                <a:cubicBezTo>
                  <a:pt x="1813560" y="2191385"/>
                  <a:pt x="2038604" y="1187323"/>
                  <a:pt x="2264156" y="183261"/>
                </a:cubicBezTo>
                <a:cubicBezTo>
                  <a:pt x="2277872" y="122174"/>
                  <a:pt x="2286635" y="59690"/>
                  <a:pt x="2308860" y="635"/>
                </a:cubicBezTo>
                <a:cubicBezTo>
                  <a:pt x="4395216" y="635"/>
                  <a:pt x="6481572" y="635"/>
                  <a:pt x="8567928" y="0"/>
                </a:cubicBezTo>
                <a:cubicBezTo>
                  <a:pt x="8596249" y="0"/>
                  <a:pt x="8605901" y="3429"/>
                  <a:pt x="8605901" y="35814"/>
                </a:cubicBezTo>
                <a:cubicBezTo>
                  <a:pt x="8605139" y="3441066"/>
                  <a:pt x="8605139" y="6846317"/>
                  <a:pt x="8606155" y="10251441"/>
                </a:cubicBezTo>
                <a:close/>
              </a:path>
            </a:pathLst>
          </a:custGeom>
          <a:solidFill>
            <a:srgbClr val="791632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EC" noProof="0" dirty="0"/>
          </a:p>
        </p:txBody>
      </p:sp>
      <p:sp>
        <p:nvSpPr>
          <p:cNvPr id="199" name="Google Shape;199;g22089c74d98_0_6">
            <a:extLst>
              <a:ext uri="{FF2B5EF4-FFF2-40B4-BE49-F238E27FC236}">
                <a16:creationId xmlns:a16="http://schemas.microsoft.com/office/drawing/2014/main" id="{25F8CE50-C461-A83F-1132-2C405D8CBAF8}"/>
              </a:ext>
            </a:extLst>
          </p:cNvPr>
          <p:cNvSpPr txBox="1"/>
          <p:nvPr/>
        </p:nvSpPr>
        <p:spPr>
          <a:xfrm>
            <a:off x="2697339" y="177251"/>
            <a:ext cx="12359715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C" sz="4800" b="1" noProof="0" dirty="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PREPARACIÓN Y ANÁLISIS DE DATOS</a:t>
            </a:r>
            <a:endParaRPr lang="es-EC" sz="4800" noProof="0" dirty="0"/>
          </a:p>
        </p:txBody>
      </p:sp>
      <p:sp>
        <p:nvSpPr>
          <p:cNvPr id="200" name="Google Shape;200;g22089c74d98_0_6">
            <a:extLst>
              <a:ext uri="{FF2B5EF4-FFF2-40B4-BE49-F238E27FC236}">
                <a16:creationId xmlns:a16="http://schemas.microsoft.com/office/drawing/2014/main" id="{7A16909F-D838-637A-0243-E062BAB620EF}"/>
              </a:ext>
            </a:extLst>
          </p:cNvPr>
          <p:cNvSpPr txBox="1"/>
          <p:nvPr/>
        </p:nvSpPr>
        <p:spPr>
          <a:xfrm>
            <a:off x="2466491" y="2115726"/>
            <a:ext cx="11912012" cy="1809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lvl="0" indent="-342900" algn="just" rtl="0">
              <a:lnSpc>
                <a:spcPct val="14004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 panose="020B0604020202020204" pitchFamily="34" charset="0"/>
              <a:buChar char="•"/>
            </a:pPr>
            <a:r>
              <a:rPr lang="es-EC" sz="2800" b="1" noProof="0" dirty="0">
                <a:solidFill>
                  <a:srgbClr val="2A2E3A"/>
                </a:solidFill>
                <a:latin typeface="Montserrat" panose="00000500000000000000" pitchFamily="2" charset="0"/>
                <a:ea typeface="Montserrat"/>
                <a:cs typeface="Montserrat"/>
                <a:sym typeface="Montserrat"/>
              </a:rPr>
              <a:t>Corpus NLU: </a:t>
            </a:r>
            <a:r>
              <a:rPr lang="es-EC" sz="2800" noProof="0" dirty="0">
                <a:solidFill>
                  <a:srgbClr val="2A2E3A"/>
                </a:solidFill>
                <a:latin typeface="Montserrat" panose="00000500000000000000" pitchFamily="2" charset="0"/>
                <a:ea typeface="Montserrat"/>
                <a:cs typeface="Montserrat"/>
                <a:sym typeface="Montserrat"/>
              </a:rPr>
              <a:t>Inicial de 60 registros creados de forma sintética, basados en el Fine </a:t>
            </a:r>
            <a:r>
              <a:rPr lang="es-EC" sz="2800" noProof="0" dirty="0" err="1">
                <a:solidFill>
                  <a:srgbClr val="2A2E3A"/>
                </a:solidFill>
                <a:latin typeface="Montserrat" panose="00000500000000000000" pitchFamily="2" charset="0"/>
                <a:ea typeface="Montserrat"/>
                <a:cs typeface="Montserrat"/>
                <a:sym typeface="Montserrat"/>
              </a:rPr>
              <a:t>Tuning</a:t>
            </a:r>
            <a:r>
              <a:rPr lang="es-EC" sz="2800" noProof="0" dirty="0">
                <a:solidFill>
                  <a:srgbClr val="2A2E3A"/>
                </a:solidFill>
                <a:latin typeface="Montserrat" panose="00000500000000000000" pitchFamily="2" charset="0"/>
                <a:ea typeface="Montserrat"/>
                <a:cs typeface="Montserrat"/>
                <a:sym typeface="Montserrat"/>
              </a:rPr>
              <a:t> XNLI y ANLI, y con dialecto local</a:t>
            </a:r>
          </a:p>
          <a:p>
            <a:pPr marL="342900" lvl="0" indent="-342900" algn="just" rtl="0">
              <a:lnSpc>
                <a:spcPct val="14004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 panose="020B0604020202020204" pitchFamily="34" charset="0"/>
              <a:buChar char="•"/>
            </a:pPr>
            <a:r>
              <a:rPr lang="es-EC" sz="2800" b="1" noProof="0" dirty="0">
                <a:solidFill>
                  <a:srgbClr val="2A2E3A"/>
                </a:solidFill>
                <a:latin typeface="Montserrat" panose="00000500000000000000" pitchFamily="2" charset="0"/>
                <a:ea typeface="Montserrat"/>
                <a:cs typeface="Montserrat"/>
                <a:sym typeface="Montserrat"/>
              </a:rPr>
              <a:t>Segmentación</a:t>
            </a:r>
            <a:r>
              <a:rPr lang="es-EC" sz="2800" noProof="0" dirty="0">
                <a:solidFill>
                  <a:srgbClr val="2A2E3A"/>
                </a:solidFill>
                <a:latin typeface="Montserrat" panose="00000500000000000000" pitchFamily="2" charset="0"/>
                <a:ea typeface="Montserrat"/>
                <a:cs typeface="Montserrat"/>
                <a:sym typeface="Montserrat"/>
              </a:rPr>
              <a:t>: 3 clases: LD + DD: 75% · Navegación: 25%</a:t>
            </a:r>
          </a:p>
        </p:txBody>
      </p:sp>
      <p:sp>
        <p:nvSpPr>
          <p:cNvPr id="201" name="Google Shape;201;g22089c74d98_0_6">
            <a:extLst>
              <a:ext uri="{FF2B5EF4-FFF2-40B4-BE49-F238E27FC236}">
                <a16:creationId xmlns:a16="http://schemas.microsoft.com/office/drawing/2014/main" id="{7C75EE1F-443A-D10E-314A-7FE9C38B7B8E}"/>
              </a:ext>
            </a:extLst>
          </p:cNvPr>
          <p:cNvSpPr/>
          <p:nvPr/>
        </p:nvSpPr>
        <p:spPr>
          <a:xfrm>
            <a:off x="200924" y="-457200"/>
            <a:ext cx="865632" cy="1794020"/>
          </a:xfrm>
          <a:custGeom>
            <a:avLst/>
            <a:gdLst/>
            <a:ahLst/>
            <a:cxnLst/>
            <a:rect l="l" t="t" r="r" b="b"/>
            <a:pathLst>
              <a:path w="812800" h="1204040" extrusionOk="0">
                <a:moveTo>
                  <a:pt x="0" y="0"/>
                </a:moveTo>
                <a:lnTo>
                  <a:pt x="609600" y="0"/>
                </a:lnTo>
                <a:lnTo>
                  <a:pt x="812800" y="602020"/>
                </a:lnTo>
                <a:lnTo>
                  <a:pt x="609600" y="1204040"/>
                </a:lnTo>
                <a:lnTo>
                  <a:pt x="0" y="1204040"/>
                </a:lnTo>
                <a:lnTo>
                  <a:pt x="203200" y="602020"/>
                </a:lnTo>
                <a:lnTo>
                  <a:pt x="0" y="0"/>
                </a:lnTo>
                <a:close/>
              </a:path>
            </a:pathLst>
          </a:custGeom>
          <a:solidFill>
            <a:srgbClr val="791632"/>
          </a:solidFill>
          <a:ln>
            <a:noFill/>
          </a:ln>
        </p:spPr>
        <p:txBody>
          <a:bodyPr/>
          <a:lstStyle/>
          <a:p>
            <a:endParaRPr lang="es-EC" noProof="0" dirty="0"/>
          </a:p>
        </p:txBody>
      </p:sp>
      <p:sp>
        <p:nvSpPr>
          <p:cNvPr id="202" name="Google Shape;202;g22089c74d98_0_6">
            <a:extLst>
              <a:ext uri="{FF2B5EF4-FFF2-40B4-BE49-F238E27FC236}">
                <a16:creationId xmlns:a16="http://schemas.microsoft.com/office/drawing/2014/main" id="{C014B563-5151-F557-D0CC-2CFC64872DB4}"/>
              </a:ext>
            </a:extLst>
          </p:cNvPr>
          <p:cNvSpPr/>
          <p:nvPr/>
        </p:nvSpPr>
        <p:spPr>
          <a:xfrm>
            <a:off x="1066372" y="-457200"/>
            <a:ext cx="865632" cy="1794020"/>
          </a:xfrm>
          <a:custGeom>
            <a:avLst/>
            <a:gdLst/>
            <a:ahLst/>
            <a:cxnLst/>
            <a:rect l="l" t="t" r="r" b="b"/>
            <a:pathLst>
              <a:path w="812800" h="1204040" extrusionOk="0">
                <a:moveTo>
                  <a:pt x="0" y="0"/>
                </a:moveTo>
                <a:lnTo>
                  <a:pt x="609600" y="0"/>
                </a:lnTo>
                <a:lnTo>
                  <a:pt x="812800" y="602020"/>
                </a:lnTo>
                <a:lnTo>
                  <a:pt x="609600" y="1204040"/>
                </a:lnTo>
                <a:lnTo>
                  <a:pt x="0" y="1204040"/>
                </a:lnTo>
                <a:lnTo>
                  <a:pt x="203200" y="602020"/>
                </a:lnTo>
                <a:lnTo>
                  <a:pt x="0" y="0"/>
                </a:lnTo>
                <a:close/>
              </a:path>
            </a:pathLst>
          </a:custGeom>
          <a:solidFill>
            <a:srgbClr val="791632"/>
          </a:solidFill>
          <a:ln>
            <a:noFill/>
          </a:ln>
        </p:spPr>
        <p:txBody>
          <a:bodyPr/>
          <a:lstStyle/>
          <a:p>
            <a:endParaRPr lang="es-EC" noProof="0" dirty="0"/>
          </a:p>
        </p:txBody>
      </p:sp>
    </p:spTree>
    <p:extLst>
      <p:ext uri="{BB962C8B-B14F-4D97-AF65-F5344CB8AC3E}">
        <p14:creationId xmlns:p14="http://schemas.microsoft.com/office/powerpoint/2010/main" val="17924118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>
          <a:extLst>
            <a:ext uri="{FF2B5EF4-FFF2-40B4-BE49-F238E27FC236}">
              <a16:creationId xmlns:a16="http://schemas.microsoft.com/office/drawing/2014/main" id="{B7938AD4-5AC7-6977-9496-FE55C8DE9D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F6AD83F-1A67-FF1F-8672-61A362ED5D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715" y="1918864"/>
            <a:ext cx="14916967" cy="8950180"/>
          </a:xfrm>
          <a:prstGeom prst="rect">
            <a:avLst/>
          </a:prstGeom>
        </p:spPr>
      </p:pic>
      <p:sp>
        <p:nvSpPr>
          <p:cNvPr id="197" name="Google Shape;197;g22089c74d98_0_6">
            <a:extLst>
              <a:ext uri="{FF2B5EF4-FFF2-40B4-BE49-F238E27FC236}">
                <a16:creationId xmlns:a16="http://schemas.microsoft.com/office/drawing/2014/main" id="{A0BBC25B-4F2D-3F69-EA52-35CA58C0A28D}"/>
              </a:ext>
            </a:extLst>
          </p:cNvPr>
          <p:cNvSpPr/>
          <p:nvPr/>
        </p:nvSpPr>
        <p:spPr>
          <a:xfrm rot="-9976565">
            <a:off x="15468219" y="-1142916"/>
            <a:ext cx="3893977" cy="12572829"/>
          </a:xfrm>
          <a:custGeom>
            <a:avLst/>
            <a:gdLst/>
            <a:ahLst/>
            <a:cxnLst/>
            <a:rect l="l" t="t" r="r" b="b"/>
            <a:pathLst>
              <a:path w="3889773" h="12559257" extrusionOk="0">
                <a:moveTo>
                  <a:pt x="0" y="0"/>
                </a:moveTo>
                <a:lnTo>
                  <a:pt x="3889773" y="0"/>
                </a:lnTo>
                <a:lnTo>
                  <a:pt x="3889773" y="12559257"/>
                </a:lnTo>
                <a:lnTo>
                  <a:pt x="0" y="1255925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l="-525743" t="-40817" b="-52988"/>
            </a:stretch>
          </a:blipFill>
          <a:ln>
            <a:noFill/>
          </a:ln>
        </p:spPr>
        <p:txBody>
          <a:bodyPr/>
          <a:lstStyle/>
          <a:p>
            <a:endParaRPr lang="es-EC" noProof="0" dirty="0"/>
          </a:p>
        </p:txBody>
      </p:sp>
      <p:sp>
        <p:nvSpPr>
          <p:cNvPr id="198" name="Google Shape;198;g22089c74d98_0_6">
            <a:extLst>
              <a:ext uri="{FF2B5EF4-FFF2-40B4-BE49-F238E27FC236}">
                <a16:creationId xmlns:a16="http://schemas.microsoft.com/office/drawing/2014/main" id="{AAF05A54-35D2-8D36-1FB1-26E624D70E13}"/>
              </a:ext>
            </a:extLst>
          </p:cNvPr>
          <p:cNvSpPr/>
          <p:nvPr/>
        </p:nvSpPr>
        <p:spPr>
          <a:xfrm>
            <a:off x="15057054" y="-604292"/>
            <a:ext cx="9617378" cy="11495582"/>
          </a:xfrm>
          <a:custGeom>
            <a:avLst/>
            <a:gdLst/>
            <a:ahLst/>
            <a:cxnLst/>
            <a:rect l="l" t="t" r="r" b="b"/>
            <a:pathLst>
              <a:path w="8606155" h="10286874" extrusionOk="0">
                <a:moveTo>
                  <a:pt x="8606155" y="10251441"/>
                </a:moveTo>
                <a:cubicBezTo>
                  <a:pt x="8606155" y="10284588"/>
                  <a:pt x="8595487" y="10286874"/>
                  <a:pt x="8567674" y="10286874"/>
                </a:cubicBezTo>
                <a:cubicBezTo>
                  <a:pt x="5713094" y="10286239"/>
                  <a:pt x="2858643" y="10286239"/>
                  <a:pt x="4064" y="10286239"/>
                </a:cubicBezTo>
                <a:cubicBezTo>
                  <a:pt x="0" y="10272396"/>
                  <a:pt x="6350" y="10259823"/>
                  <a:pt x="9271" y="10246996"/>
                </a:cubicBezTo>
                <a:cubicBezTo>
                  <a:pt x="134747" y="9685402"/>
                  <a:pt x="260350" y="9123935"/>
                  <a:pt x="386207" y="8562467"/>
                </a:cubicBezTo>
                <a:cubicBezTo>
                  <a:pt x="565658" y="7761986"/>
                  <a:pt x="745490" y="6961633"/>
                  <a:pt x="924814" y="6161151"/>
                </a:cubicBezTo>
                <a:cubicBezTo>
                  <a:pt x="1146302" y="5172583"/>
                  <a:pt x="1367282" y="4184015"/>
                  <a:pt x="1588643" y="3195574"/>
                </a:cubicBezTo>
                <a:cubicBezTo>
                  <a:pt x="1813560" y="2191385"/>
                  <a:pt x="2038604" y="1187323"/>
                  <a:pt x="2264156" y="183261"/>
                </a:cubicBezTo>
                <a:cubicBezTo>
                  <a:pt x="2277872" y="122174"/>
                  <a:pt x="2286635" y="59690"/>
                  <a:pt x="2308860" y="635"/>
                </a:cubicBezTo>
                <a:cubicBezTo>
                  <a:pt x="4395216" y="635"/>
                  <a:pt x="6481572" y="635"/>
                  <a:pt x="8567928" y="0"/>
                </a:cubicBezTo>
                <a:cubicBezTo>
                  <a:pt x="8596249" y="0"/>
                  <a:pt x="8605901" y="3429"/>
                  <a:pt x="8605901" y="35814"/>
                </a:cubicBezTo>
                <a:cubicBezTo>
                  <a:pt x="8605139" y="3441066"/>
                  <a:pt x="8605139" y="6846317"/>
                  <a:pt x="8606155" y="10251441"/>
                </a:cubicBezTo>
                <a:close/>
              </a:path>
            </a:pathLst>
          </a:custGeom>
          <a:solidFill>
            <a:srgbClr val="791632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EC" noProof="0" dirty="0"/>
          </a:p>
        </p:txBody>
      </p:sp>
      <p:sp>
        <p:nvSpPr>
          <p:cNvPr id="199" name="Google Shape;199;g22089c74d98_0_6">
            <a:extLst>
              <a:ext uri="{FF2B5EF4-FFF2-40B4-BE49-F238E27FC236}">
                <a16:creationId xmlns:a16="http://schemas.microsoft.com/office/drawing/2014/main" id="{8499FE8C-B265-5CCB-E3A2-B2E222049060}"/>
              </a:ext>
            </a:extLst>
          </p:cNvPr>
          <p:cNvSpPr txBox="1"/>
          <p:nvPr/>
        </p:nvSpPr>
        <p:spPr>
          <a:xfrm>
            <a:off x="2697339" y="177251"/>
            <a:ext cx="9628011" cy="1772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C" sz="4800" b="1" noProof="0" dirty="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EVALUACIÓN, OPTIMIZACIÓN Y VALIDACIÓN</a:t>
            </a:r>
            <a:endParaRPr lang="es-EC" sz="4800" noProof="0" dirty="0"/>
          </a:p>
        </p:txBody>
      </p:sp>
      <p:sp>
        <p:nvSpPr>
          <p:cNvPr id="201" name="Google Shape;201;g22089c74d98_0_6">
            <a:extLst>
              <a:ext uri="{FF2B5EF4-FFF2-40B4-BE49-F238E27FC236}">
                <a16:creationId xmlns:a16="http://schemas.microsoft.com/office/drawing/2014/main" id="{F7AB20C5-6AE2-0BC1-F902-21A96D9CF5F7}"/>
              </a:ext>
            </a:extLst>
          </p:cNvPr>
          <p:cNvSpPr/>
          <p:nvPr/>
        </p:nvSpPr>
        <p:spPr>
          <a:xfrm>
            <a:off x="200924" y="-457200"/>
            <a:ext cx="865632" cy="1794020"/>
          </a:xfrm>
          <a:custGeom>
            <a:avLst/>
            <a:gdLst/>
            <a:ahLst/>
            <a:cxnLst/>
            <a:rect l="l" t="t" r="r" b="b"/>
            <a:pathLst>
              <a:path w="812800" h="1204040" extrusionOk="0">
                <a:moveTo>
                  <a:pt x="0" y="0"/>
                </a:moveTo>
                <a:lnTo>
                  <a:pt x="609600" y="0"/>
                </a:lnTo>
                <a:lnTo>
                  <a:pt x="812800" y="602020"/>
                </a:lnTo>
                <a:lnTo>
                  <a:pt x="609600" y="1204040"/>
                </a:lnTo>
                <a:lnTo>
                  <a:pt x="0" y="1204040"/>
                </a:lnTo>
                <a:lnTo>
                  <a:pt x="203200" y="602020"/>
                </a:lnTo>
                <a:lnTo>
                  <a:pt x="0" y="0"/>
                </a:lnTo>
                <a:close/>
              </a:path>
            </a:pathLst>
          </a:custGeom>
          <a:solidFill>
            <a:srgbClr val="791632"/>
          </a:solidFill>
          <a:ln>
            <a:noFill/>
          </a:ln>
        </p:spPr>
        <p:txBody>
          <a:bodyPr/>
          <a:lstStyle/>
          <a:p>
            <a:endParaRPr lang="es-EC" noProof="0" dirty="0"/>
          </a:p>
        </p:txBody>
      </p:sp>
      <p:sp>
        <p:nvSpPr>
          <p:cNvPr id="202" name="Google Shape;202;g22089c74d98_0_6">
            <a:extLst>
              <a:ext uri="{FF2B5EF4-FFF2-40B4-BE49-F238E27FC236}">
                <a16:creationId xmlns:a16="http://schemas.microsoft.com/office/drawing/2014/main" id="{0D7F45A1-38B8-74C7-4ADC-4DE4CC09221B}"/>
              </a:ext>
            </a:extLst>
          </p:cNvPr>
          <p:cNvSpPr/>
          <p:nvPr/>
        </p:nvSpPr>
        <p:spPr>
          <a:xfrm>
            <a:off x="1066372" y="-457200"/>
            <a:ext cx="865632" cy="1794020"/>
          </a:xfrm>
          <a:custGeom>
            <a:avLst/>
            <a:gdLst/>
            <a:ahLst/>
            <a:cxnLst/>
            <a:rect l="l" t="t" r="r" b="b"/>
            <a:pathLst>
              <a:path w="812800" h="1204040" extrusionOk="0">
                <a:moveTo>
                  <a:pt x="0" y="0"/>
                </a:moveTo>
                <a:lnTo>
                  <a:pt x="609600" y="0"/>
                </a:lnTo>
                <a:lnTo>
                  <a:pt x="812800" y="602020"/>
                </a:lnTo>
                <a:lnTo>
                  <a:pt x="609600" y="1204040"/>
                </a:lnTo>
                <a:lnTo>
                  <a:pt x="0" y="1204040"/>
                </a:lnTo>
                <a:lnTo>
                  <a:pt x="203200" y="602020"/>
                </a:lnTo>
                <a:lnTo>
                  <a:pt x="0" y="0"/>
                </a:lnTo>
                <a:close/>
              </a:path>
            </a:pathLst>
          </a:custGeom>
          <a:solidFill>
            <a:srgbClr val="791632"/>
          </a:solidFill>
          <a:ln>
            <a:noFill/>
          </a:ln>
        </p:spPr>
        <p:txBody>
          <a:bodyPr/>
          <a:lstStyle/>
          <a:p>
            <a:endParaRPr lang="es-EC" noProof="0" dirty="0"/>
          </a:p>
        </p:txBody>
      </p:sp>
      <p:sp>
        <p:nvSpPr>
          <p:cNvPr id="5" name="Google Shape;199;g22089c74d98_0_6">
            <a:extLst>
              <a:ext uri="{FF2B5EF4-FFF2-40B4-BE49-F238E27FC236}">
                <a16:creationId xmlns:a16="http://schemas.microsoft.com/office/drawing/2014/main" id="{BCE4701C-1B64-6E1E-E6CC-1815581D59DD}"/>
              </a:ext>
            </a:extLst>
          </p:cNvPr>
          <p:cNvSpPr txBox="1"/>
          <p:nvPr/>
        </p:nvSpPr>
        <p:spPr>
          <a:xfrm>
            <a:off x="3010027" y="1918864"/>
            <a:ext cx="9078895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C" sz="3200" b="1" noProof="0" dirty="0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¿Qué tan bien funciona el sistema?</a:t>
            </a:r>
            <a:endParaRPr lang="es-EC" sz="3200" noProof="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92100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>
          <a:extLst>
            <a:ext uri="{FF2B5EF4-FFF2-40B4-BE49-F238E27FC236}">
              <a16:creationId xmlns:a16="http://schemas.microsoft.com/office/drawing/2014/main" id="{FA805D33-2AF1-8CB5-FA88-CBBF1AD01C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550AA4F-2C5A-E06E-BAEA-4C1DCBA8BE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216" y="2808666"/>
            <a:ext cx="10558405" cy="6266925"/>
          </a:xfrm>
          <a:prstGeom prst="rect">
            <a:avLst/>
          </a:prstGeom>
        </p:spPr>
      </p:pic>
      <p:sp>
        <p:nvSpPr>
          <p:cNvPr id="117" name="Google Shape;117;p3">
            <a:extLst>
              <a:ext uri="{FF2B5EF4-FFF2-40B4-BE49-F238E27FC236}">
                <a16:creationId xmlns:a16="http://schemas.microsoft.com/office/drawing/2014/main" id="{E4473E3A-3615-1E21-947C-99C82FA58997}"/>
              </a:ext>
            </a:extLst>
          </p:cNvPr>
          <p:cNvSpPr txBox="1"/>
          <p:nvPr/>
        </p:nvSpPr>
        <p:spPr>
          <a:xfrm>
            <a:off x="1548384" y="510454"/>
            <a:ext cx="15272765" cy="812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C" sz="4400" b="1" i="0" u="none" strike="noStrike" cap="none" noProof="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CONSIDERACIONES ÉTICAS Y DE IMPACTO SOCIAL</a:t>
            </a:r>
          </a:p>
        </p:txBody>
      </p:sp>
      <p:sp>
        <p:nvSpPr>
          <p:cNvPr id="118" name="Google Shape;118;p3">
            <a:extLst>
              <a:ext uri="{FF2B5EF4-FFF2-40B4-BE49-F238E27FC236}">
                <a16:creationId xmlns:a16="http://schemas.microsoft.com/office/drawing/2014/main" id="{54A43A5D-B911-25B5-0D14-2355D9C8D053}"/>
              </a:ext>
            </a:extLst>
          </p:cNvPr>
          <p:cNvSpPr/>
          <p:nvPr/>
        </p:nvSpPr>
        <p:spPr>
          <a:xfrm>
            <a:off x="16604357" y="5676900"/>
            <a:ext cx="2945028" cy="5777885"/>
          </a:xfrm>
          <a:custGeom>
            <a:avLst/>
            <a:gdLst/>
            <a:ahLst/>
            <a:cxnLst/>
            <a:rect l="l" t="t" r="r" b="b"/>
            <a:pathLst>
              <a:path w="406400" h="797321" extrusionOk="0">
                <a:moveTo>
                  <a:pt x="203200" y="0"/>
                </a:moveTo>
                <a:lnTo>
                  <a:pt x="406400" y="0"/>
                </a:lnTo>
                <a:lnTo>
                  <a:pt x="203200" y="797321"/>
                </a:lnTo>
                <a:lnTo>
                  <a:pt x="0" y="797321"/>
                </a:lnTo>
                <a:lnTo>
                  <a:pt x="203200" y="0"/>
                </a:lnTo>
                <a:close/>
              </a:path>
            </a:pathLst>
          </a:custGeom>
          <a:solidFill>
            <a:srgbClr val="79163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EC" sz="1800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3">
            <a:extLst>
              <a:ext uri="{FF2B5EF4-FFF2-40B4-BE49-F238E27FC236}">
                <a16:creationId xmlns:a16="http://schemas.microsoft.com/office/drawing/2014/main" id="{45D66B95-72C9-77AC-758D-2D2BD5E5D3A0}"/>
              </a:ext>
            </a:extLst>
          </p:cNvPr>
          <p:cNvSpPr/>
          <p:nvPr/>
        </p:nvSpPr>
        <p:spPr>
          <a:xfrm>
            <a:off x="-1371921" y="-634385"/>
            <a:ext cx="2743842" cy="5383177"/>
          </a:xfrm>
          <a:custGeom>
            <a:avLst/>
            <a:gdLst/>
            <a:ahLst/>
            <a:cxnLst/>
            <a:rect l="l" t="t" r="r" b="b"/>
            <a:pathLst>
              <a:path w="406400" h="797321" extrusionOk="0">
                <a:moveTo>
                  <a:pt x="203200" y="0"/>
                </a:moveTo>
                <a:lnTo>
                  <a:pt x="406400" y="0"/>
                </a:lnTo>
                <a:lnTo>
                  <a:pt x="203200" y="797321"/>
                </a:lnTo>
                <a:lnTo>
                  <a:pt x="0" y="797321"/>
                </a:lnTo>
                <a:lnTo>
                  <a:pt x="203200" y="0"/>
                </a:lnTo>
                <a:close/>
              </a:path>
            </a:pathLst>
          </a:custGeom>
          <a:solidFill>
            <a:srgbClr val="791632"/>
          </a:solidFill>
          <a:ln>
            <a:noFill/>
          </a:ln>
        </p:spPr>
        <p:txBody>
          <a:bodyPr/>
          <a:lstStyle/>
          <a:p>
            <a:endParaRPr lang="es-EC" noProof="0" dirty="0"/>
          </a:p>
        </p:txBody>
      </p:sp>
      <p:sp>
        <p:nvSpPr>
          <p:cNvPr id="120" name="Google Shape;120;p3">
            <a:extLst>
              <a:ext uri="{FF2B5EF4-FFF2-40B4-BE49-F238E27FC236}">
                <a16:creationId xmlns:a16="http://schemas.microsoft.com/office/drawing/2014/main" id="{B1397B45-7B85-D89D-5C43-69429B34319E}"/>
              </a:ext>
            </a:extLst>
          </p:cNvPr>
          <p:cNvSpPr/>
          <p:nvPr/>
        </p:nvSpPr>
        <p:spPr>
          <a:xfrm>
            <a:off x="17185844" y="-190500"/>
            <a:ext cx="714563" cy="1401909"/>
          </a:xfrm>
          <a:custGeom>
            <a:avLst/>
            <a:gdLst/>
            <a:ahLst/>
            <a:cxnLst/>
            <a:rect l="l" t="t" r="r" b="b"/>
            <a:pathLst>
              <a:path w="406400" h="797321" extrusionOk="0">
                <a:moveTo>
                  <a:pt x="203200" y="0"/>
                </a:moveTo>
                <a:lnTo>
                  <a:pt x="406400" y="0"/>
                </a:lnTo>
                <a:lnTo>
                  <a:pt x="203200" y="797321"/>
                </a:lnTo>
                <a:lnTo>
                  <a:pt x="0" y="797321"/>
                </a:lnTo>
                <a:lnTo>
                  <a:pt x="203200" y="0"/>
                </a:lnTo>
                <a:close/>
              </a:path>
            </a:pathLst>
          </a:custGeom>
          <a:solidFill>
            <a:srgbClr val="791632"/>
          </a:solidFill>
          <a:ln>
            <a:noFill/>
          </a:ln>
        </p:spPr>
        <p:txBody>
          <a:bodyPr/>
          <a:lstStyle/>
          <a:p>
            <a:endParaRPr lang="es-EC" noProof="0" dirty="0"/>
          </a:p>
        </p:txBody>
      </p:sp>
      <p:sp>
        <p:nvSpPr>
          <p:cNvPr id="121" name="Google Shape;121;p3">
            <a:extLst>
              <a:ext uri="{FF2B5EF4-FFF2-40B4-BE49-F238E27FC236}">
                <a16:creationId xmlns:a16="http://schemas.microsoft.com/office/drawing/2014/main" id="{2CDE61BE-99C9-213D-3441-A21ACF81EB6A}"/>
              </a:ext>
            </a:extLst>
          </p:cNvPr>
          <p:cNvSpPr/>
          <p:nvPr/>
        </p:nvSpPr>
        <p:spPr>
          <a:xfrm>
            <a:off x="17362308" y="499311"/>
            <a:ext cx="714563" cy="1401909"/>
          </a:xfrm>
          <a:custGeom>
            <a:avLst/>
            <a:gdLst/>
            <a:ahLst/>
            <a:cxnLst/>
            <a:rect l="l" t="t" r="r" b="b"/>
            <a:pathLst>
              <a:path w="406400" h="797321" extrusionOk="0">
                <a:moveTo>
                  <a:pt x="203200" y="0"/>
                </a:moveTo>
                <a:lnTo>
                  <a:pt x="406400" y="0"/>
                </a:lnTo>
                <a:lnTo>
                  <a:pt x="203200" y="797321"/>
                </a:lnTo>
                <a:lnTo>
                  <a:pt x="0" y="797321"/>
                </a:lnTo>
                <a:lnTo>
                  <a:pt x="203200" y="0"/>
                </a:lnTo>
                <a:close/>
              </a:path>
            </a:pathLst>
          </a:custGeom>
          <a:solidFill>
            <a:srgbClr val="7F7F7F"/>
          </a:solidFill>
          <a:ln>
            <a:noFill/>
          </a:ln>
        </p:spPr>
        <p:txBody>
          <a:bodyPr/>
          <a:lstStyle/>
          <a:p>
            <a:endParaRPr lang="es-EC" noProof="0" dirty="0"/>
          </a:p>
        </p:txBody>
      </p:sp>
      <p:sp>
        <p:nvSpPr>
          <p:cNvPr id="122" name="Google Shape;122;p3">
            <a:extLst>
              <a:ext uri="{FF2B5EF4-FFF2-40B4-BE49-F238E27FC236}">
                <a16:creationId xmlns:a16="http://schemas.microsoft.com/office/drawing/2014/main" id="{EE6FCCEA-7A45-2789-3BF9-6CE60E7EDE85}"/>
              </a:ext>
            </a:extLst>
          </p:cNvPr>
          <p:cNvSpPr/>
          <p:nvPr/>
        </p:nvSpPr>
        <p:spPr>
          <a:xfrm>
            <a:off x="14711389" y="7425489"/>
            <a:ext cx="2945028" cy="5777885"/>
          </a:xfrm>
          <a:custGeom>
            <a:avLst/>
            <a:gdLst/>
            <a:ahLst/>
            <a:cxnLst/>
            <a:rect l="l" t="t" r="r" b="b"/>
            <a:pathLst>
              <a:path w="406400" h="797321" extrusionOk="0">
                <a:moveTo>
                  <a:pt x="203200" y="0"/>
                </a:moveTo>
                <a:lnTo>
                  <a:pt x="406400" y="0"/>
                </a:lnTo>
                <a:lnTo>
                  <a:pt x="203200" y="797321"/>
                </a:lnTo>
                <a:lnTo>
                  <a:pt x="0" y="797321"/>
                </a:lnTo>
                <a:lnTo>
                  <a:pt x="203200" y="0"/>
                </a:lnTo>
                <a:close/>
              </a:path>
            </a:pathLst>
          </a:custGeom>
          <a:solidFill>
            <a:srgbClr val="7F7F7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EC" sz="1800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99;g22089c74d98_0_6">
            <a:extLst>
              <a:ext uri="{FF2B5EF4-FFF2-40B4-BE49-F238E27FC236}">
                <a16:creationId xmlns:a16="http://schemas.microsoft.com/office/drawing/2014/main" id="{EECC0F9E-E629-E4BC-B38E-34E4AA0C186B}"/>
              </a:ext>
            </a:extLst>
          </p:cNvPr>
          <p:cNvSpPr txBox="1"/>
          <p:nvPr/>
        </p:nvSpPr>
        <p:spPr>
          <a:xfrm>
            <a:off x="1964681" y="1211409"/>
            <a:ext cx="5445769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C" sz="3200" b="1" noProof="0" dirty="0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Ética, Equidad e Impacto</a:t>
            </a:r>
          </a:p>
        </p:txBody>
      </p:sp>
      <p:sp>
        <p:nvSpPr>
          <p:cNvPr id="4" name="Google Shape;200;g22089c74d98_0_6">
            <a:extLst>
              <a:ext uri="{FF2B5EF4-FFF2-40B4-BE49-F238E27FC236}">
                <a16:creationId xmlns:a16="http://schemas.microsoft.com/office/drawing/2014/main" id="{96629456-2B88-1DDC-EEB2-213F5993DC46}"/>
              </a:ext>
            </a:extLst>
          </p:cNvPr>
          <p:cNvSpPr txBox="1"/>
          <p:nvPr/>
        </p:nvSpPr>
        <p:spPr>
          <a:xfrm>
            <a:off x="11374621" y="3977159"/>
            <a:ext cx="5811223" cy="2585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42900" lvl="0" indent="-342900" algn="l" rtl="0">
              <a:lnSpc>
                <a:spcPct val="14004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 panose="020B0604020202020204" pitchFamily="34" charset="0"/>
              <a:buChar char="•"/>
            </a:pPr>
            <a:r>
              <a:rPr lang="es-EC" sz="2400" noProof="0" dirty="0">
                <a:solidFill>
                  <a:srgbClr val="2A2E3A"/>
                </a:solidFill>
                <a:latin typeface="Montserrat" panose="00000500000000000000" pitchFamily="2" charset="0"/>
                <a:ea typeface="Montserrat"/>
                <a:cs typeface="Montserrat"/>
                <a:sym typeface="Montserrat"/>
              </a:rPr>
              <a:t>Trazabilidad RAG</a:t>
            </a:r>
          </a:p>
          <a:p>
            <a:pPr marL="342900" lvl="0" indent="-342900" algn="l" rtl="0">
              <a:lnSpc>
                <a:spcPct val="14004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 panose="020B0604020202020204" pitchFamily="34" charset="0"/>
              <a:buChar char="•"/>
            </a:pPr>
            <a:r>
              <a:rPr lang="es-EC" sz="2400" noProof="0" dirty="0">
                <a:solidFill>
                  <a:srgbClr val="2A2E3A"/>
                </a:solidFill>
                <a:latin typeface="Montserrat" panose="00000500000000000000" pitchFamily="2" charset="0"/>
                <a:ea typeface="Montserrat"/>
                <a:cs typeface="Montserrat"/>
                <a:sym typeface="Montserrat"/>
              </a:rPr>
              <a:t>Pipeline 100% local (LOPDP)</a:t>
            </a:r>
          </a:p>
          <a:p>
            <a:pPr marL="342900" lvl="0" indent="-342900" algn="l" rtl="0">
              <a:lnSpc>
                <a:spcPct val="14004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 panose="020B0604020202020204" pitchFamily="34" charset="0"/>
              <a:buChar char="•"/>
            </a:pPr>
            <a:r>
              <a:rPr lang="es-EC" sz="2400" noProof="0" dirty="0">
                <a:solidFill>
                  <a:srgbClr val="2A2E3A"/>
                </a:solidFill>
                <a:latin typeface="Montserrat" panose="00000500000000000000" pitchFamily="2" charset="0"/>
                <a:sym typeface="Montserrat"/>
              </a:rPr>
              <a:t>Evaluación de sesgo</a:t>
            </a:r>
          </a:p>
          <a:p>
            <a:pPr marL="342900" lvl="0" indent="-342900" algn="l" rtl="0">
              <a:lnSpc>
                <a:spcPct val="14004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 panose="020B0604020202020204" pitchFamily="34" charset="0"/>
              <a:buChar char="•"/>
            </a:pPr>
            <a:r>
              <a:rPr lang="es-EC" sz="2400" noProof="0" dirty="0">
                <a:solidFill>
                  <a:srgbClr val="2A2E3A"/>
                </a:solidFill>
                <a:latin typeface="Montserrat" panose="00000500000000000000" pitchFamily="2" charset="0"/>
                <a:sym typeface="Montserrat"/>
              </a:rPr>
              <a:t>Corpus balanceado con modismos de la región de implementación</a:t>
            </a:r>
          </a:p>
        </p:txBody>
      </p:sp>
      <p:sp>
        <p:nvSpPr>
          <p:cNvPr id="8" name="Google Shape;199;g22089c74d98_0_6">
            <a:extLst>
              <a:ext uri="{FF2B5EF4-FFF2-40B4-BE49-F238E27FC236}">
                <a16:creationId xmlns:a16="http://schemas.microsoft.com/office/drawing/2014/main" id="{4A7A5730-E8EF-C58F-C98F-8EAE1E0DED69}"/>
              </a:ext>
            </a:extLst>
          </p:cNvPr>
          <p:cNvSpPr txBox="1"/>
          <p:nvPr/>
        </p:nvSpPr>
        <p:spPr>
          <a:xfrm>
            <a:off x="12216551" y="2930301"/>
            <a:ext cx="4387806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C" sz="3200" b="1" noProof="0" dirty="0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Acciones tomadas</a:t>
            </a:r>
          </a:p>
        </p:txBody>
      </p:sp>
    </p:spTree>
    <p:extLst>
      <p:ext uri="{BB962C8B-B14F-4D97-AF65-F5344CB8AC3E}">
        <p14:creationId xmlns:p14="http://schemas.microsoft.com/office/powerpoint/2010/main" val="20764079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>
          <a:extLst>
            <a:ext uri="{FF2B5EF4-FFF2-40B4-BE49-F238E27FC236}">
              <a16:creationId xmlns:a16="http://schemas.microsoft.com/office/drawing/2014/main" id="{F497683A-5A47-D321-6436-5CBC1E7B18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D7B9655-6001-3C15-7193-8EC55E40CC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2301" y="1514071"/>
            <a:ext cx="13159393" cy="8772929"/>
          </a:xfrm>
          <a:prstGeom prst="rect">
            <a:avLst/>
          </a:prstGeom>
        </p:spPr>
      </p:pic>
      <p:sp>
        <p:nvSpPr>
          <p:cNvPr id="197" name="Google Shape;197;g22089c74d98_0_6">
            <a:extLst>
              <a:ext uri="{FF2B5EF4-FFF2-40B4-BE49-F238E27FC236}">
                <a16:creationId xmlns:a16="http://schemas.microsoft.com/office/drawing/2014/main" id="{216B6589-5F2C-2289-07DE-479CB47422BE}"/>
              </a:ext>
            </a:extLst>
          </p:cNvPr>
          <p:cNvSpPr/>
          <p:nvPr/>
        </p:nvSpPr>
        <p:spPr>
          <a:xfrm rot="-9976565">
            <a:off x="15925107" y="-1142916"/>
            <a:ext cx="3893977" cy="12572829"/>
          </a:xfrm>
          <a:custGeom>
            <a:avLst/>
            <a:gdLst/>
            <a:ahLst/>
            <a:cxnLst/>
            <a:rect l="l" t="t" r="r" b="b"/>
            <a:pathLst>
              <a:path w="3889773" h="12559257" extrusionOk="0">
                <a:moveTo>
                  <a:pt x="0" y="0"/>
                </a:moveTo>
                <a:lnTo>
                  <a:pt x="3889773" y="0"/>
                </a:lnTo>
                <a:lnTo>
                  <a:pt x="3889773" y="12559257"/>
                </a:lnTo>
                <a:lnTo>
                  <a:pt x="0" y="1255925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l="-525743" t="-40817" b="-52988"/>
            </a:stretch>
          </a:blipFill>
          <a:ln>
            <a:noFill/>
          </a:ln>
        </p:spPr>
        <p:txBody>
          <a:bodyPr/>
          <a:lstStyle/>
          <a:p>
            <a:endParaRPr lang="es-EC" noProof="0" dirty="0"/>
          </a:p>
        </p:txBody>
      </p:sp>
      <p:sp>
        <p:nvSpPr>
          <p:cNvPr id="198" name="Google Shape;198;g22089c74d98_0_6">
            <a:extLst>
              <a:ext uri="{FF2B5EF4-FFF2-40B4-BE49-F238E27FC236}">
                <a16:creationId xmlns:a16="http://schemas.microsoft.com/office/drawing/2014/main" id="{CC0B7F34-AED3-8D1B-0C1F-2BF89719E2D6}"/>
              </a:ext>
            </a:extLst>
          </p:cNvPr>
          <p:cNvSpPr/>
          <p:nvPr/>
        </p:nvSpPr>
        <p:spPr>
          <a:xfrm>
            <a:off x="15681694" y="-738763"/>
            <a:ext cx="9617378" cy="11495582"/>
          </a:xfrm>
          <a:custGeom>
            <a:avLst/>
            <a:gdLst/>
            <a:ahLst/>
            <a:cxnLst/>
            <a:rect l="l" t="t" r="r" b="b"/>
            <a:pathLst>
              <a:path w="8606155" h="10286874" extrusionOk="0">
                <a:moveTo>
                  <a:pt x="8606155" y="10251441"/>
                </a:moveTo>
                <a:cubicBezTo>
                  <a:pt x="8606155" y="10284588"/>
                  <a:pt x="8595487" y="10286874"/>
                  <a:pt x="8567674" y="10286874"/>
                </a:cubicBezTo>
                <a:cubicBezTo>
                  <a:pt x="5713094" y="10286239"/>
                  <a:pt x="2858643" y="10286239"/>
                  <a:pt x="4064" y="10286239"/>
                </a:cubicBezTo>
                <a:cubicBezTo>
                  <a:pt x="0" y="10272396"/>
                  <a:pt x="6350" y="10259823"/>
                  <a:pt x="9271" y="10246996"/>
                </a:cubicBezTo>
                <a:cubicBezTo>
                  <a:pt x="134747" y="9685402"/>
                  <a:pt x="260350" y="9123935"/>
                  <a:pt x="386207" y="8562467"/>
                </a:cubicBezTo>
                <a:cubicBezTo>
                  <a:pt x="565658" y="7761986"/>
                  <a:pt x="745490" y="6961633"/>
                  <a:pt x="924814" y="6161151"/>
                </a:cubicBezTo>
                <a:cubicBezTo>
                  <a:pt x="1146302" y="5172583"/>
                  <a:pt x="1367282" y="4184015"/>
                  <a:pt x="1588643" y="3195574"/>
                </a:cubicBezTo>
                <a:cubicBezTo>
                  <a:pt x="1813560" y="2191385"/>
                  <a:pt x="2038604" y="1187323"/>
                  <a:pt x="2264156" y="183261"/>
                </a:cubicBezTo>
                <a:cubicBezTo>
                  <a:pt x="2277872" y="122174"/>
                  <a:pt x="2286635" y="59690"/>
                  <a:pt x="2308860" y="635"/>
                </a:cubicBezTo>
                <a:cubicBezTo>
                  <a:pt x="4395216" y="635"/>
                  <a:pt x="6481572" y="635"/>
                  <a:pt x="8567928" y="0"/>
                </a:cubicBezTo>
                <a:cubicBezTo>
                  <a:pt x="8596249" y="0"/>
                  <a:pt x="8605901" y="3429"/>
                  <a:pt x="8605901" y="35814"/>
                </a:cubicBezTo>
                <a:cubicBezTo>
                  <a:pt x="8605139" y="3441066"/>
                  <a:pt x="8605139" y="6846317"/>
                  <a:pt x="8606155" y="10251441"/>
                </a:cubicBezTo>
                <a:close/>
              </a:path>
            </a:pathLst>
          </a:custGeom>
          <a:solidFill>
            <a:srgbClr val="791632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EC" noProof="0" dirty="0"/>
          </a:p>
        </p:txBody>
      </p:sp>
      <p:sp>
        <p:nvSpPr>
          <p:cNvPr id="199" name="Google Shape;199;g22089c74d98_0_6">
            <a:extLst>
              <a:ext uri="{FF2B5EF4-FFF2-40B4-BE49-F238E27FC236}">
                <a16:creationId xmlns:a16="http://schemas.microsoft.com/office/drawing/2014/main" id="{ED1FE097-562C-4F44-3694-25C765232335}"/>
              </a:ext>
            </a:extLst>
          </p:cNvPr>
          <p:cNvSpPr txBox="1"/>
          <p:nvPr/>
        </p:nvSpPr>
        <p:spPr>
          <a:xfrm>
            <a:off x="2378371" y="75466"/>
            <a:ext cx="6765629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C" sz="4800" b="1" noProof="0" dirty="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DEMO DEL SISTEMA</a:t>
            </a:r>
            <a:endParaRPr lang="es-EC" sz="4800" noProof="0" dirty="0"/>
          </a:p>
        </p:txBody>
      </p:sp>
      <p:sp>
        <p:nvSpPr>
          <p:cNvPr id="201" name="Google Shape;201;g22089c74d98_0_6">
            <a:extLst>
              <a:ext uri="{FF2B5EF4-FFF2-40B4-BE49-F238E27FC236}">
                <a16:creationId xmlns:a16="http://schemas.microsoft.com/office/drawing/2014/main" id="{5C7DEE22-5A02-80A4-2E1F-57DB6EA76A39}"/>
              </a:ext>
            </a:extLst>
          </p:cNvPr>
          <p:cNvSpPr/>
          <p:nvPr/>
        </p:nvSpPr>
        <p:spPr>
          <a:xfrm>
            <a:off x="200924" y="-457200"/>
            <a:ext cx="865632" cy="1794020"/>
          </a:xfrm>
          <a:custGeom>
            <a:avLst/>
            <a:gdLst/>
            <a:ahLst/>
            <a:cxnLst/>
            <a:rect l="l" t="t" r="r" b="b"/>
            <a:pathLst>
              <a:path w="812800" h="1204040" extrusionOk="0">
                <a:moveTo>
                  <a:pt x="0" y="0"/>
                </a:moveTo>
                <a:lnTo>
                  <a:pt x="609600" y="0"/>
                </a:lnTo>
                <a:lnTo>
                  <a:pt x="812800" y="602020"/>
                </a:lnTo>
                <a:lnTo>
                  <a:pt x="609600" y="1204040"/>
                </a:lnTo>
                <a:lnTo>
                  <a:pt x="0" y="1204040"/>
                </a:lnTo>
                <a:lnTo>
                  <a:pt x="203200" y="602020"/>
                </a:lnTo>
                <a:lnTo>
                  <a:pt x="0" y="0"/>
                </a:lnTo>
                <a:close/>
              </a:path>
            </a:pathLst>
          </a:custGeom>
          <a:solidFill>
            <a:srgbClr val="791632"/>
          </a:solidFill>
          <a:ln>
            <a:noFill/>
          </a:ln>
        </p:spPr>
        <p:txBody>
          <a:bodyPr/>
          <a:lstStyle/>
          <a:p>
            <a:endParaRPr lang="es-EC" noProof="0" dirty="0"/>
          </a:p>
        </p:txBody>
      </p:sp>
      <p:sp>
        <p:nvSpPr>
          <p:cNvPr id="202" name="Google Shape;202;g22089c74d98_0_6">
            <a:extLst>
              <a:ext uri="{FF2B5EF4-FFF2-40B4-BE49-F238E27FC236}">
                <a16:creationId xmlns:a16="http://schemas.microsoft.com/office/drawing/2014/main" id="{6E6889F3-FA80-189D-7220-8982DC2A1CF6}"/>
              </a:ext>
            </a:extLst>
          </p:cNvPr>
          <p:cNvSpPr/>
          <p:nvPr/>
        </p:nvSpPr>
        <p:spPr>
          <a:xfrm>
            <a:off x="1066372" y="-457200"/>
            <a:ext cx="865632" cy="1794020"/>
          </a:xfrm>
          <a:custGeom>
            <a:avLst/>
            <a:gdLst/>
            <a:ahLst/>
            <a:cxnLst/>
            <a:rect l="l" t="t" r="r" b="b"/>
            <a:pathLst>
              <a:path w="812800" h="1204040" extrusionOk="0">
                <a:moveTo>
                  <a:pt x="0" y="0"/>
                </a:moveTo>
                <a:lnTo>
                  <a:pt x="609600" y="0"/>
                </a:lnTo>
                <a:lnTo>
                  <a:pt x="812800" y="602020"/>
                </a:lnTo>
                <a:lnTo>
                  <a:pt x="609600" y="1204040"/>
                </a:lnTo>
                <a:lnTo>
                  <a:pt x="0" y="1204040"/>
                </a:lnTo>
                <a:lnTo>
                  <a:pt x="203200" y="602020"/>
                </a:lnTo>
                <a:lnTo>
                  <a:pt x="0" y="0"/>
                </a:lnTo>
                <a:close/>
              </a:path>
            </a:pathLst>
          </a:custGeom>
          <a:solidFill>
            <a:srgbClr val="791632"/>
          </a:solidFill>
          <a:ln>
            <a:noFill/>
          </a:ln>
        </p:spPr>
        <p:txBody>
          <a:bodyPr/>
          <a:lstStyle/>
          <a:p>
            <a:endParaRPr lang="es-EC" noProof="0" dirty="0"/>
          </a:p>
        </p:txBody>
      </p:sp>
      <p:sp>
        <p:nvSpPr>
          <p:cNvPr id="5" name="Google Shape;199;g22089c74d98_0_6">
            <a:extLst>
              <a:ext uri="{FF2B5EF4-FFF2-40B4-BE49-F238E27FC236}">
                <a16:creationId xmlns:a16="http://schemas.microsoft.com/office/drawing/2014/main" id="{06D03B6C-0BF7-A0E0-2856-03CB0BF130EE}"/>
              </a:ext>
            </a:extLst>
          </p:cNvPr>
          <p:cNvSpPr txBox="1"/>
          <p:nvPr/>
        </p:nvSpPr>
        <p:spPr>
          <a:xfrm>
            <a:off x="2797452" y="960197"/>
            <a:ext cx="9078895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C" sz="3200" b="1" noProof="0" dirty="0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El Agente en Producción</a:t>
            </a:r>
            <a:endParaRPr lang="es-EC" sz="3200" noProof="0" dirty="0">
              <a:solidFill>
                <a:schemeClr val="accent2"/>
              </a:solidFill>
            </a:endParaRPr>
          </a:p>
        </p:txBody>
      </p:sp>
      <p:sp>
        <p:nvSpPr>
          <p:cNvPr id="4" name="Google Shape;200;g22089c74d98_0_6">
            <a:extLst>
              <a:ext uri="{FF2B5EF4-FFF2-40B4-BE49-F238E27FC236}">
                <a16:creationId xmlns:a16="http://schemas.microsoft.com/office/drawing/2014/main" id="{3D65642B-15E2-A977-7FB8-F443184E1CD7}"/>
              </a:ext>
            </a:extLst>
          </p:cNvPr>
          <p:cNvSpPr txBox="1"/>
          <p:nvPr/>
        </p:nvSpPr>
        <p:spPr>
          <a:xfrm>
            <a:off x="714886" y="2694801"/>
            <a:ext cx="4368212" cy="12064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-457200" algn="just" rtl="0">
              <a:lnSpc>
                <a:spcPct val="14004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 panose="020B0604020202020204" pitchFamily="34" charset="0"/>
              <a:buChar char="•"/>
            </a:pPr>
            <a:r>
              <a:rPr lang="es-EC" sz="2800" b="1" noProof="0" dirty="0">
                <a:solidFill>
                  <a:srgbClr val="2A2E3A"/>
                </a:solidFill>
                <a:latin typeface="Montserrat" panose="00000500000000000000" pitchFamily="2" charset="0"/>
                <a:ea typeface="Montserrat"/>
                <a:cs typeface="Montserrat"/>
                <a:sym typeface="Montserrat"/>
              </a:rPr>
              <a:t>Link productivo:</a:t>
            </a:r>
            <a:r>
              <a:rPr lang="es-EC" sz="2800" noProof="0" dirty="0">
                <a:solidFill>
                  <a:srgbClr val="2A2E3A"/>
                </a:solidFill>
                <a:latin typeface="Montserrat" panose="00000500000000000000" pitchFamily="2" charset="0"/>
                <a:ea typeface="Montserrat"/>
                <a:cs typeface="Montserrat"/>
                <a:sym typeface="Montserrat"/>
              </a:rPr>
              <a:t> </a:t>
            </a:r>
          </a:p>
          <a:p>
            <a:pPr lvl="0" algn="just" rtl="0">
              <a:lnSpc>
                <a:spcPct val="14004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</a:pPr>
            <a:r>
              <a:rPr lang="es-EC" sz="2800" noProof="0" dirty="0">
                <a:solidFill>
                  <a:srgbClr val="2A2E3A"/>
                </a:solidFill>
                <a:latin typeface="Montserrat" panose="00000500000000000000" pitchFamily="2" charset="0"/>
                <a:ea typeface="Montserrat"/>
                <a:cs typeface="Montserrat"/>
                <a:sym typeface="Montserrat"/>
              </a:rPr>
              <a:t>	</a:t>
            </a:r>
            <a:r>
              <a:rPr lang="es-EC" sz="2800" noProof="0" dirty="0">
                <a:solidFill>
                  <a:srgbClr val="2A2E3A"/>
                </a:solidFill>
                <a:latin typeface="Montserrat" panose="00000500000000000000" pitchFamily="2" charset="0"/>
                <a:ea typeface="Montserrat"/>
                <a:cs typeface="Montserrat"/>
                <a:sym typeface="Montserrat"/>
                <a:hlinkClick r:id="rId5"/>
              </a:rPr>
              <a:t>Acceso al demo</a:t>
            </a:r>
            <a:endParaRPr lang="es-EC" sz="2800" noProof="0" dirty="0">
              <a:solidFill>
                <a:srgbClr val="2A2E3A"/>
              </a:solidFill>
              <a:latin typeface="Montserrat" panose="00000500000000000000" pitchFamily="2" charset="0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10972438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488B60A-483C-18AE-6DE6-39B902731A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4087" y="3456812"/>
            <a:ext cx="14930495" cy="7026115"/>
          </a:xfrm>
          <a:prstGeom prst="rect">
            <a:avLst/>
          </a:prstGeom>
        </p:spPr>
      </p:pic>
      <p:sp>
        <p:nvSpPr>
          <p:cNvPr id="183" name="Google Shape;183;p6"/>
          <p:cNvSpPr txBox="1"/>
          <p:nvPr/>
        </p:nvSpPr>
        <p:spPr>
          <a:xfrm>
            <a:off x="782174" y="988322"/>
            <a:ext cx="15143625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C" sz="4800" b="1" noProof="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RESULTADOS Y CONCLUSIONES</a:t>
            </a:r>
            <a:endParaRPr lang="es-EC" sz="4800" noProof="0" dirty="0">
              <a:solidFill>
                <a:schemeClr val="dk1"/>
              </a:solidFill>
            </a:endParaRPr>
          </a:p>
        </p:txBody>
      </p:sp>
      <p:grpSp>
        <p:nvGrpSpPr>
          <p:cNvPr id="185" name="Google Shape;185;p6"/>
          <p:cNvGrpSpPr/>
          <p:nvPr/>
        </p:nvGrpSpPr>
        <p:grpSpPr>
          <a:xfrm>
            <a:off x="-522109" y="-2588027"/>
            <a:ext cx="19917789" cy="3266948"/>
            <a:chOff x="0" y="-47625"/>
            <a:chExt cx="5245803" cy="860425"/>
          </a:xfrm>
        </p:grpSpPr>
        <p:sp>
          <p:nvSpPr>
            <p:cNvPr id="186" name="Google Shape;186;p6"/>
            <p:cNvSpPr/>
            <p:nvPr/>
          </p:nvSpPr>
          <p:spPr>
            <a:xfrm>
              <a:off x="0" y="0"/>
              <a:ext cx="5245803" cy="812800"/>
            </a:xfrm>
            <a:custGeom>
              <a:avLst/>
              <a:gdLst/>
              <a:ahLst/>
              <a:cxnLst/>
              <a:rect l="l" t="t" r="r" b="b"/>
              <a:pathLst>
                <a:path w="5245803" h="812800" extrusionOk="0">
                  <a:moveTo>
                    <a:pt x="0" y="0"/>
                  </a:moveTo>
                  <a:lnTo>
                    <a:pt x="5245803" y="0"/>
                  </a:lnTo>
                  <a:lnTo>
                    <a:pt x="5245803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791632"/>
            </a:solidFill>
            <a:ln>
              <a:noFill/>
            </a:ln>
          </p:spPr>
          <p:txBody>
            <a:bodyPr/>
            <a:lstStyle/>
            <a:p>
              <a:endParaRPr lang="es-EC" noProof="0" dirty="0"/>
            </a:p>
          </p:txBody>
        </p:sp>
        <p:sp>
          <p:nvSpPr>
            <p:cNvPr id="187" name="Google Shape;187;p6"/>
            <p:cNvSpPr txBox="1"/>
            <p:nvPr/>
          </p:nvSpPr>
          <p:spPr>
            <a:xfrm>
              <a:off x="0" y="-47625"/>
              <a:ext cx="5245803" cy="860425"/>
            </a:xfrm>
            <a:prstGeom prst="rect">
              <a:avLst/>
            </a:prstGeom>
            <a:solidFill>
              <a:srgbClr val="791632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es-EC" sz="1800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8" name="Google Shape;188;p6"/>
          <p:cNvGrpSpPr/>
          <p:nvPr/>
        </p:nvGrpSpPr>
        <p:grpSpPr>
          <a:xfrm>
            <a:off x="-378128" y="9530823"/>
            <a:ext cx="19917789" cy="3266948"/>
            <a:chOff x="0" y="-47625"/>
            <a:chExt cx="5245803" cy="860425"/>
          </a:xfrm>
        </p:grpSpPr>
        <p:sp>
          <p:nvSpPr>
            <p:cNvPr id="189" name="Google Shape;189;p6"/>
            <p:cNvSpPr/>
            <p:nvPr/>
          </p:nvSpPr>
          <p:spPr>
            <a:xfrm>
              <a:off x="0" y="0"/>
              <a:ext cx="5245803" cy="812800"/>
            </a:xfrm>
            <a:custGeom>
              <a:avLst/>
              <a:gdLst/>
              <a:ahLst/>
              <a:cxnLst/>
              <a:rect l="l" t="t" r="r" b="b"/>
              <a:pathLst>
                <a:path w="5245803" h="812800" extrusionOk="0">
                  <a:moveTo>
                    <a:pt x="0" y="0"/>
                  </a:moveTo>
                  <a:lnTo>
                    <a:pt x="5245803" y="0"/>
                  </a:lnTo>
                  <a:lnTo>
                    <a:pt x="5245803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791632"/>
            </a:solidFill>
            <a:ln>
              <a:noFill/>
            </a:ln>
          </p:spPr>
          <p:txBody>
            <a:bodyPr/>
            <a:lstStyle/>
            <a:p>
              <a:endParaRPr lang="es-EC" noProof="0" dirty="0"/>
            </a:p>
          </p:txBody>
        </p:sp>
        <p:sp>
          <p:nvSpPr>
            <p:cNvPr id="190" name="Google Shape;190;p6"/>
            <p:cNvSpPr txBox="1"/>
            <p:nvPr/>
          </p:nvSpPr>
          <p:spPr>
            <a:xfrm>
              <a:off x="0" y="-47625"/>
              <a:ext cx="5245803" cy="860425"/>
            </a:xfrm>
            <a:prstGeom prst="rect">
              <a:avLst/>
            </a:prstGeom>
            <a:solidFill>
              <a:srgbClr val="791632"/>
            </a:solidFill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es-EC" sz="1800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" name="Google Shape;200;g22089c74d98_0_6">
            <a:extLst>
              <a:ext uri="{FF2B5EF4-FFF2-40B4-BE49-F238E27FC236}">
                <a16:creationId xmlns:a16="http://schemas.microsoft.com/office/drawing/2014/main" id="{9728D3CE-E613-D00A-988B-FEDDACFE237C}"/>
              </a:ext>
            </a:extLst>
          </p:cNvPr>
          <p:cNvSpPr txBox="1"/>
          <p:nvPr/>
        </p:nvSpPr>
        <p:spPr>
          <a:xfrm>
            <a:off x="1794087" y="2657643"/>
            <a:ext cx="11912012" cy="603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-457200" algn="just" rtl="0">
              <a:lnSpc>
                <a:spcPct val="14004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 panose="020B0604020202020204" pitchFamily="34" charset="0"/>
              <a:buChar char="•"/>
            </a:pPr>
            <a:r>
              <a:rPr lang="es-EC" sz="2800" noProof="0" dirty="0">
                <a:solidFill>
                  <a:srgbClr val="2A2E3A"/>
                </a:solidFill>
                <a:latin typeface="Montserrat" panose="00000500000000000000" pitchFamily="2" charset="0"/>
                <a:ea typeface="Montserrat"/>
                <a:cs typeface="Montserrat"/>
                <a:sym typeface="Montserrat"/>
              </a:rPr>
              <a:t>Viabilidad técnica, replicable. Listo para escalar</a:t>
            </a:r>
          </a:p>
        </p:txBody>
      </p:sp>
      <p:sp>
        <p:nvSpPr>
          <p:cNvPr id="7" name="Google Shape;199;g22089c74d98_0_6">
            <a:extLst>
              <a:ext uri="{FF2B5EF4-FFF2-40B4-BE49-F238E27FC236}">
                <a16:creationId xmlns:a16="http://schemas.microsoft.com/office/drawing/2014/main" id="{4487A299-E6A6-9AB9-E297-5061D2039CDB}"/>
              </a:ext>
            </a:extLst>
          </p:cNvPr>
          <p:cNvSpPr txBox="1"/>
          <p:nvPr/>
        </p:nvSpPr>
        <p:spPr>
          <a:xfrm>
            <a:off x="1425852" y="1717850"/>
            <a:ext cx="9078895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C" sz="3200" b="1" noProof="0" dirty="0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¿Qué logramos?</a:t>
            </a:r>
            <a:endParaRPr lang="es-EC" sz="3200" noProof="0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22089c74d98_0_6"/>
          <p:cNvSpPr/>
          <p:nvPr/>
        </p:nvSpPr>
        <p:spPr>
          <a:xfrm rot="-9976565">
            <a:off x="12757272" y="-959430"/>
            <a:ext cx="3893977" cy="12572829"/>
          </a:xfrm>
          <a:custGeom>
            <a:avLst/>
            <a:gdLst/>
            <a:ahLst/>
            <a:cxnLst/>
            <a:rect l="l" t="t" r="r" b="b"/>
            <a:pathLst>
              <a:path w="3889773" h="12559257" extrusionOk="0">
                <a:moveTo>
                  <a:pt x="0" y="0"/>
                </a:moveTo>
                <a:lnTo>
                  <a:pt x="3889773" y="0"/>
                </a:lnTo>
                <a:lnTo>
                  <a:pt x="3889773" y="12559257"/>
                </a:lnTo>
                <a:lnTo>
                  <a:pt x="0" y="1255925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525743" t="-40817" b="-52988"/>
            </a:stretch>
          </a:blipFill>
          <a:ln>
            <a:noFill/>
          </a:ln>
        </p:spPr>
        <p:txBody>
          <a:bodyPr/>
          <a:lstStyle/>
          <a:p>
            <a:endParaRPr lang="es-EC" noProof="0" dirty="0"/>
          </a:p>
        </p:txBody>
      </p:sp>
      <p:sp>
        <p:nvSpPr>
          <p:cNvPr id="198" name="Google Shape;198;g22089c74d98_0_6"/>
          <p:cNvSpPr/>
          <p:nvPr/>
        </p:nvSpPr>
        <p:spPr>
          <a:xfrm>
            <a:off x="12412939" y="-420806"/>
            <a:ext cx="9617378" cy="11495582"/>
          </a:xfrm>
          <a:custGeom>
            <a:avLst/>
            <a:gdLst/>
            <a:ahLst/>
            <a:cxnLst/>
            <a:rect l="l" t="t" r="r" b="b"/>
            <a:pathLst>
              <a:path w="8606155" h="10286874" extrusionOk="0">
                <a:moveTo>
                  <a:pt x="8606155" y="10251441"/>
                </a:moveTo>
                <a:cubicBezTo>
                  <a:pt x="8606155" y="10284588"/>
                  <a:pt x="8595487" y="10286874"/>
                  <a:pt x="8567674" y="10286874"/>
                </a:cubicBezTo>
                <a:cubicBezTo>
                  <a:pt x="5713094" y="10286239"/>
                  <a:pt x="2858643" y="10286239"/>
                  <a:pt x="4064" y="10286239"/>
                </a:cubicBezTo>
                <a:cubicBezTo>
                  <a:pt x="0" y="10272396"/>
                  <a:pt x="6350" y="10259823"/>
                  <a:pt x="9271" y="10246996"/>
                </a:cubicBezTo>
                <a:cubicBezTo>
                  <a:pt x="134747" y="9685402"/>
                  <a:pt x="260350" y="9123935"/>
                  <a:pt x="386207" y="8562467"/>
                </a:cubicBezTo>
                <a:cubicBezTo>
                  <a:pt x="565658" y="7761986"/>
                  <a:pt x="745490" y="6961633"/>
                  <a:pt x="924814" y="6161151"/>
                </a:cubicBezTo>
                <a:cubicBezTo>
                  <a:pt x="1146302" y="5172583"/>
                  <a:pt x="1367282" y="4184015"/>
                  <a:pt x="1588643" y="3195574"/>
                </a:cubicBezTo>
                <a:cubicBezTo>
                  <a:pt x="1813560" y="2191385"/>
                  <a:pt x="2038604" y="1187323"/>
                  <a:pt x="2264156" y="183261"/>
                </a:cubicBezTo>
                <a:cubicBezTo>
                  <a:pt x="2277872" y="122174"/>
                  <a:pt x="2286635" y="59690"/>
                  <a:pt x="2308860" y="635"/>
                </a:cubicBezTo>
                <a:cubicBezTo>
                  <a:pt x="4395216" y="635"/>
                  <a:pt x="6481572" y="635"/>
                  <a:pt x="8567928" y="0"/>
                </a:cubicBezTo>
                <a:cubicBezTo>
                  <a:pt x="8596249" y="0"/>
                  <a:pt x="8605901" y="3429"/>
                  <a:pt x="8605901" y="35814"/>
                </a:cubicBezTo>
                <a:cubicBezTo>
                  <a:pt x="8605139" y="3441066"/>
                  <a:pt x="8605139" y="6846317"/>
                  <a:pt x="8606155" y="10251441"/>
                </a:cubicBezTo>
                <a:close/>
              </a:path>
            </a:pathLst>
          </a:custGeom>
          <a:solidFill>
            <a:srgbClr val="791632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EC" noProof="0" dirty="0"/>
          </a:p>
        </p:txBody>
      </p:sp>
      <p:sp>
        <p:nvSpPr>
          <p:cNvPr id="199" name="Google Shape;199;g22089c74d98_0_6"/>
          <p:cNvSpPr txBox="1"/>
          <p:nvPr/>
        </p:nvSpPr>
        <p:spPr>
          <a:xfrm>
            <a:off x="5352660" y="5765407"/>
            <a:ext cx="3227790" cy="1171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C" sz="6346" b="1" noProof="0" dirty="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Gracias</a:t>
            </a:r>
            <a:endParaRPr lang="es-EC" noProof="0" dirty="0"/>
          </a:p>
        </p:txBody>
      </p:sp>
      <p:sp>
        <p:nvSpPr>
          <p:cNvPr id="201" name="Google Shape;201;g22089c74d98_0_6"/>
          <p:cNvSpPr/>
          <p:nvPr/>
        </p:nvSpPr>
        <p:spPr>
          <a:xfrm>
            <a:off x="200924" y="0"/>
            <a:ext cx="865632" cy="1794020"/>
          </a:xfrm>
          <a:custGeom>
            <a:avLst/>
            <a:gdLst/>
            <a:ahLst/>
            <a:cxnLst/>
            <a:rect l="l" t="t" r="r" b="b"/>
            <a:pathLst>
              <a:path w="812800" h="1204040" extrusionOk="0">
                <a:moveTo>
                  <a:pt x="0" y="0"/>
                </a:moveTo>
                <a:lnTo>
                  <a:pt x="609600" y="0"/>
                </a:lnTo>
                <a:lnTo>
                  <a:pt x="812800" y="602020"/>
                </a:lnTo>
                <a:lnTo>
                  <a:pt x="609600" y="1204040"/>
                </a:lnTo>
                <a:lnTo>
                  <a:pt x="0" y="1204040"/>
                </a:lnTo>
                <a:lnTo>
                  <a:pt x="203200" y="602020"/>
                </a:lnTo>
                <a:lnTo>
                  <a:pt x="0" y="0"/>
                </a:lnTo>
                <a:close/>
              </a:path>
            </a:pathLst>
          </a:custGeom>
          <a:solidFill>
            <a:srgbClr val="791632"/>
          </a:solidFill>
          <a:ln>
            <a:noFill/>
          </a:ln>
        </p:spPr>
        <p:txBody>
          <a:bodyPr/>
          <a:lstStyle/>
          <a:p>
            <a:endParaRPr lang="es-EC" noProof="0" dirty="0"/>
          </a:p>
        </p:txBody>
      </p:sp>
      <p:sp>
        <p:nvSpPr>
          <p:cNvPr id="202" name="Google Shape;202;g22089c74d98_0_6"/>
          <p:cNvSpPr/>
          <p:nvPr/>
        </p:nvSpPr>
        <p:spPr>
          <a:xfrm>
            <a:off x="1066372" y="0"/>
            <a:ext cx="865632" cy="1794020"/>
          </a:xfrm>
          <a:custGeom>
            <a:avLst/>
            <a:gdLst/>
            <a:ahLst/>
            <a:cxnLst/>
            <a:rect l="l" t="t" r="r" b="b"/>
            <a:pathLst>
              <a:path w="812800" h="1204040" extrusionOk="0">
                <a:moveTo>
                  <a:pt x="0" y="0"/>
                </a:moveTo>
                <a:lnTo>
                  <a:pt x="609600" y="0"/>
                </a:lnTo>
                <a:lnTo>
                  <a:pt x="812800" y="602020"/>
                </a:lnTo>
                <a:lnTo>
                  <a:pt x="609600" y="1204040"/>
                </a:lnTo>
                <a:lnTo>
                  <a:pt x="0" y="1204040"/>
                </a:lnTo>
                <a:lnTo>
                  <a:pt x="203200" y="602020"/>
                </a:lnTo>
                <a:lnTo>
                  <a:pt x="0" y="0"/>
                </a:lnTo>
                <a:close/>
              </a:path>
            </a:pathLst>
          </a:custGeom>
          <a:solidFill>
            <a:srgbClr val="791632"/>
          </a:solidFill>
          <a:ln>
            <a:noFill/>
          </a:ln>
        </p:spPr>
        <p:txBody>
          <a:bodyPr/>
          <a:lstStyle/>
          <a:p>
            <a:endParaRPr lang="es-EC" noProof="0" dirty="0"/>
          </a:p>
        </p:txBody>
      </p:sp>
      <p:sp>
        <p:nvSpPr>
          <p:cNvPr id="2" name="Google Shape;199;g22089c74d98_0_6">
            <a:extLst>
              <a:ext uri="{FF2B5EF4-FFF2-40B4-BE49-F238E27FC236}">
                <a16:creationId xmlns:a16="http://schemas.microsoft.com/office/drawing/2014/main" id="{60BEC447-B61B-40D6-8DA8-DEDDDE26841E}"/>
              </a:ext>
            </a:extLst>
          </p:cNvPr>
          <p:cNvSpPr txBox="1"/>
          <p:nvPr/>
        </p:nvSpPr>
        <p:spPr>
          <a:xfrm>
            <a:off x="1932004" y="3149108"/>
            <a:ext cx="10225377" cy="19943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600" i="1" noProof="0" dirty="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…..¿Es posible eliminar la fricción operativa mediante un agente conversacional?....</a:t>
            </a:r>
          </a:p>
          <a:p>
            <a:pPr marL="0" marR="0" lvl="0" indent="0" algn="ctr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C" sz="3600" b="1" noProof="0" dirty="0">
                <a:latin typeface="Montserrat" panose="00000500000000000000" pitchFamily="2" charset="0"/>
              </a:rPr>
              <a:t>Sí. Y está funcionando.</a:t>
            </a:r>
          </a:p>
        </p:txBody>
      </p:sp>
      <p:sp>
        <p:nvSpPr>
          <p:cNvPr id="3" name="Google Shape;85;p1">
            <a:extLst>
              <a:ext uri="{FF2B5EF4-FFF2-40B4-BE49-F238E27FC236}">
                <a16:creationId xmlns:a16="http://schemas.microsoft.com/office/drawing/2014/main" id="{22EBDC17-9C24-DABB-E560-CC3ABDAA5847}"/>
              </a:ext>
            </a:extLst>
          </p:cNvPr>
          <p:cNvSpPr txBox="1"/>
          <p:nvPr/>
        </p:nvSpPr>
        <p:spPr>
          <a:xfrm>
            <a:off x="13207292" y="8873653"/>
            <a:ext cx="5971276" cy="9158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38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C" sz="2400" b="1" noProof="0" dirty="0">
                <a:solidFill>
                  <a:schemeClr val="tx1"/>
                </a:solidFill>
                <a:latin typeface="Montserrat" panose="00000500000000000000" pitchFamily="2" charset="0"/>
              </a:rPr>
              <a:t>Bryan Ismael Alvarado Quimiz</a:t>
            </a:r>
          </a:p>
          <a:p>
            <a:pPr marL="0" marR="0" lvl="0" indent="0" algn="l" rtl="0">
              <a:lnSpc>
                <a:spcPct val="1238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C" sz="2400" b="1" noProof="0" dirty="0">
                <a:solidFill>
                  <a:schemeClr val="tx1"/>
                </a:solidFill>
                <a:latin typeface="Montserrat" panose="00000500000000000000" pitchFamily="2" charset="0"/>
              </a:rPr>
              <a:t>Diego André Arámbulo Vítores</a:t>
            </a:r>
          </a:p>
        </p:txBody>
      </p:sp>
      <p:sp>
        <p:nvSpPr>
          <p:cNvPr id="4" name="Google Shape;199;g22089c74d98_0_6">
            <a:extLst>
              <a:ext uri="{FF2B5EF4-FFF2-40B4-BE49-F238E27FC236}">
                <a16:creationId xmlns:a16="http://schemas.microsoft.com/office/drawing/2014/main" id="{5CAC0C98-8100-CFCE-299F-B8B95B530517}"/>
              </a:ext>
            </a:extLst>
          </p:cNvPr>
          <p:cNvSpPr txBox="1"/>
          <p:nvPr/>
        </p:nvSpPr>
        <p:spPr>
          <a:xfrm>
            <a:off x="13512710" y="8303387"/>
            <a:ext cx="2038740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C" sz="3200" b="1" noProof="0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Grupo #1</a:t>
            </a:r>
            <a:endParaRPr lang="es-EC" sz="3200" noProof="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639</TotalTime>
  <Words>419</Words>
  <Application>Microsoft Office PowerPoint</Application>
  <PresentationFormat>Custom</PresentationFormat>
  <Paragraphs>85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Calibri</vt:lpstr>
      <vt:lpstr>Arial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Diego Andre Arambulo Vitores</cp:lastModifiedBy>
  <cp:revision>20</cp:revision>
  <dcterms:created xsi:type="dcterms:W3CDTF">2006-08-16T00:00:00Z</dcterms:created>
  <dcterms:modified xsi:type="dcterms:W3CDTF">2026-05-17T05:30:23Z</dcterms:modified>
</cp:coreProperties>
</file>